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3716000" cy="9144000"/>
  <p:notesSz cx="9144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9.png"/><Relationship Id="rId11" Type="http://schemas.openxmlformats.org/officeDocument/2006/relationships/image" Target="../media/image-1-9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4.png"/><Relationship Id="rId16" Type="http://schemas.openxmlformats.org/officeDocument/2006/relationships/image" Target="../media/image-1-16.png"/><Relationship Id="rId17" Type="http://schemas.openxmlformats.org/officeDocument/2006/relationships/image" Target="../media/image-1-13.png"/><Relationship Id="rId18" Type="http://schemas.openxmlformats.org/officeDocument/2006/relationships/image" Target="../media/image-1-9.png"/><Relationship Id="rId19" Type="http://schemas.openxmlformats.org/officeDocument/2006/relationships/image" Target="../media/image-1-9.png"/><Relationship Id="rId20" Type="http://schemas.openxmlformats.org/officeDocument/2006/relationships/image" Target="../media/image-1-5.png"/><Relationship Id="rId21" Type="http://schemas.openxmlformats.org/officeDocument/2006/relationships/image" Target="../media/image-1-21.png"/><Relationship Id="rId22" Type="http://schemas.openxmlformats.org/officeDocument/2006/relationships/image" Target="../media/image-1-8.png"/><Relationship Id="rId23" Type="http://schemas.openxmlformats.org/officeDocument/2006/relationships/image" Target="../media/image-1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73152"/>
            <a:ext cx="13533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2： PRM-Clinic 的 Step-level 验证与 Best-of-N 选择机制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" y="502920"/>
            <a:ext cx="13533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F3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process rewards outperform outcome-only ranking in clinical note generation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128016" y="859536"/>
            <a:ext cx="5394960" cy="6547104"/>
          </a:xfrm>
          <a:prstGeom prst="roundRect">
            <a:avLst>
              <a:gd name="adj" fmla="val 2034"/>
            </a:avLst>
          </a:prstGeom>
          <a:solidFill>
            <a:srgbClr val="EFF7FC"/>
          </a:solidFill>
          <a:ln w="13970">
            <a:solidFill>
              <a:srgbClr val="0D62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41848" y="859536"/>
            <a:ext cx="7936992" cy="2414016"/>
          </a:xfrm>
          <a:prstGeom prst="roundRect">
            <a:avLst>
              <a:gd name="adj" fmla="val 4545"/>
            </a:avLst>
          </a:prstGeom>
          <a:solidFill>
            <a:srgbClr val="FBEFF1"/>
          </a:solidFill>
          <a:ln w="12700">
            <a:solidFill>
              <a:srgbClr val="B71C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41848" y="3374136"/>
            <a:ext cx="7936992" cy="2221992"/>
          </a:xfrm>
          <a:prstGeom prst="roundRect">
            <a:avLst>
              <a:gd name="adj" fmla="val 4938"/>
            </a:avLst>
          </a:prstGeom>
          <a:solidFill>
            <a:srgbClr val="F3F9F3"/>
          </a:solidFill>
          <a:ln w="12700">
            <a:solidFill>
              <a:srgbClr val="208D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1848" y="5669280"/>
            <a:ext cx="7936992" cy="1810512"/>
          </a:xfrm>
          <a:prstGeom prst="roundRect">
            <a:avLst>
              <a:gd name="adj" fmla="val 6061"/>
            </a:avLst>
          </a:prstGeom>
          <a:solidFill>
            <a:srgbClr val="FEFAEC"/>
          </a:solidFill>
          <a:ln w="12700">
            <a:solidFill>
              <a:srgbClr val="E392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" y="7571232"/>
            <a:ext cx="13441680" cy="1444752"/>
          </a:xfrm>
          <a:prstGeom prst="roundRect">
            <a:avLst>
              <a:gd name="adj" fmla="val 7595"/>
            </a:avLst>
          </a:prstGeom>
          <a:solidFill>
            <a:srgbClr val="F8F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960120"/>
            <a:ext cx="501091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53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  总览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74904" y="1353312"/>
            <a:ext cx="153619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0D62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426464"/>
            <a:ext cx="13898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临床对话 Dialogue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1088136" y="2596896"/>
            <a:ext cx="256032" cy="356616"/>
          </a:xfrm>
          <a:prstGeom prst="downArrow">
            <a:avLst/>
          </a:prstGeom>
          <a:solidFill>
            <a:srgbClr val="1E88D8"/>
          </a:solidFill>
          <a:ln w="12700">
            <a:solidFill>
              <a:srgbClr val="1E88D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76272" y="1353312"/>
            <a:ext cx="153619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0D62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9424" y="1426464"/>
            <a:ext cx="13898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候选笔记 Candidates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889504" y="2596896"/>
            <a:ext cx="256032" cy="356616"/>
          </a:xfrm>
          <a:prstGeom prst="downArrow">
            <a:avLst/>
          </a:prstGeom>
          <a:solidFill>
            <a:srgbClr val="1E88D8"/>
          </a:solidFill>
          <a:ln w="12700">
            <a:solidFill>
              <a:srgbClr val="1E88D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1353312"/>
            <a:ext cx="1536192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1430">
            <a:solidFill>
              <a:srgbClr val="0D62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42232" y="1426464"/>
            <a:ext cx="13898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金标准笔记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 Note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782312" y="2596896"/>
            <a:ext cx="256032" cy="356616"/>
          </a:xfrm>
          <a:prstGeom prst="downArrow">
            <a:avLst/>
          </a:prstGeom>
          <a:solidFill>
            <a:srgbClr val="1E88D8"/>
          </a:solidFill>
          <a:ln w="12700">
            <a:solidFill>
              <a:srgbClr val="1E88D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" y="1755648"/>
            <a:ext cx="1097280" cy="649224"/>
          </a:xfrm>
          <a:prstGeom prst="rect">
            <a:avLst>
              <a:gd name="adj" fmla="val 1126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0" descr="C:\Users\dididimer\Documents\dimer-ppt\fresh_prm_clinic\assets\top_dialog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755648"/>
            <a:ext cx="1097280" cy="649224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478024" y="1764792"/>
            <a:ext cx="1014984" cy="640080"/>
          </a:xfrm>
          <a:prstGeom prst="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1" descr="C:\Users\dididimer\Documents\dimer-ppt\fresh_prm_clinic\assets\top_candida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24" y="1764792"/>
            <a:ext cx="1014984" cy="64008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389120" y="1764792"/>
            <a:ext cx="694944" cy="658368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2" descr="C:\Users\dididimer\Documents\dimer-ppt\fresh_prm_clinic\assets\top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764792"/>
            <a:ext cx="694944" cy="65836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292608" y="2999232"/>
            <a:ext cx="5047488" cy="1481328"/>
          </a:xfrm>
          <a:prstGeom prst="roundRect">
            <a:avLst>
              <a:gd name="adj" fmla="val 6173"/>
            </a:avLst>
          </a:prstGeom>
          <a:solidFill>
            <a:srgbClr val="F9FCFF"/>
          </a:solidFill>
          <a:ln w="15240">
            <a:solidFill>
              <a:srgbClr val="102A6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68680" y="3200400"/>
            <a:ext cx="530352" cy="475488"/>
          </a:xfrm>
          <a:prstGeom prst="rect">
            <a:avLst>
              <a:gd name="adj" fmla="val 15385"/>
            </a:avLst>
          </a:prstGeom>
          <a:solidFill>
            <a:srgbClr val="F9FCFF"/>
          </a:solidFill>
          <a:ln w="12700">
            <a:solidFill>
              <a:srgbClr val="F9FCFF"/>
            </a:solidFill>
            <a:prstDash val="solid"/>
          </a:ln>
        </p:spPr>
      </p:sp>
      <p:pic>
        <p:nvPicPr>
          <p:cNvPr id="27" name="Image 3" descr="C:\Users\dididimer\Documents\dimer-ppt\fresh_prm_clinic\assets\prm_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00400"/>
            <a:ext cx="530352" cy="4754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719072" y="3200400"/>
            <a:ext cx="20574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Step-level  PRM Scoring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365760" y="3547872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75488" y="3694176"/>
            <a:ext cx="274320" cy="292608"/>
          </a:xfrm>
          <a:prstGeom prst="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4" descr="C:\Users\dididimer\Documents\dimer-ppt\fresh_prm_clinic\assets\metric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694176"/>
            <a:ext cx="274320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22960" y="3703320"/>
            <a:ext cx="6583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事实性</a:t>
            </a:r>
            <a:endParaRPr lang="en-US" sz="810" dirty="0"/>
          </a:p>
        </p:txBody>
      </p:sp>
      <p:sp>
        <p:nvSpPr>
          <p:cNvPr id="33" name="Text 26"/>
          <p:cNvSpPr/>
          <p:nvPr/>
        </p:nvSpPr>
        <p:spPr>
          <a:xfrm>
            <a:off x="822960" y="3913632"/>
            <a:ext cx="67665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Factuality</a:t>
            </a:r>
            <a:endParaRPr lang="en-US" sz="640" dirty="0"/>
          </a:p>
        </p:txBody>
      </p:sp>
      <p:sp>
        <p:nvSpPr>
          <p:cNvPr id="34" name="Shape 27"/>
          <p:cNvSpPr/>
          <p:nvPr/>
        </p:nvSpPr>
        <p:spPr>
          <a:xfrm>
            <a:off x="1636776" y="3547872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746504" y="3694176"/>
            <a:ext cx="274320" cy="292608"/>
          </a:xfrm>
          <a:prstGeom prst="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5" descr="C:\Users\dididimer\Documents\dimer-ppt\fresh_prm_clinic\assets\metric_puzz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6504" y="3694176"/>
            <a:ext cx="274320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093976" y="3703320"/>
            <a:ext cx="6583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810" dirty="0"/>
          </a:p>
        </p:txBody>
      </p:sp>
      <p:sp>
        <p:nvSpPr>
          <p:cNvPr id="38" name="Text 30"/>
          <p:cNvSpPr/>
          <p:nvPr/>
        </p:nvSpPr>
        <p:spPr>
          <a:xfrm>
            <a:off x="2093976" y="3913632"/>
            <a:ext cx="67665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Completeness</a:t>
            </a:r>
            <a:endParaRPr lang="en-US" sz="640" dirty="0"/>
          </a:p>
        </p:txBody>
      </p:sp>
      <p:sp>
        <p:nvSpPr>
          <p:cNvPr id="39" name="Shape 31"/>
          <p:cNvSpPr/>
          <p:nvPr/>
        </p:nvSpPr>
        <p:spPr>
          <a:xfrm>
            <a:off x="2907792" y="3547872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3017520" y="3694176"/>
            <a:ext cx="274320" cy="292608"/>
          </a:xfrm>
          <a:prstGeom prst="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6" descr="C:\Users\dididimer\Documents\dimer-ppt\fresh_prm_clinic\assets\metric_logi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3694176"/>
            <a:ext cx="274320" cy="29260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3364992" y="3703320"/>
            <a:ext cx="6583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逻辑性</a:t>
            </a:r>
            <a:endParaRPr lang="en-US" sz="810" dirty="0"/>
          </a:p>
        </p:txBody>
      </p:sp>
      <p:sp>
        <p:nvSpPr>
          <p:cNvPr id="43" name="Text 34"/>
          <p:cNvSpPr/>
          <p:nvPr/>
        </p:nvSpPr>
        <p:spPr>
          <a:xfrm>
            <a:off x="3364992" y="3913632"/>
            <a:ext cx="67665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Logicality</a:t>
            </a:r>
            <a:endParaRPr lang="en-US" sz="640" dirty="0"/>
          </a:p>
        </p:txBody>
      </p:sp>
      <p:sp>
        <p:nvSpPr>
          <p:cNvPr id="44" name="Shape 35"/>
          <p:cNvSpPr/>
          <p:nvPr/>
        </p:nvSpPr>
        <p:spPr>
          <a:xfrm>
            <a:off x="4178808" y="3547872"/>
            <a:ext cx="1188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4288536" y="3694176"/>
            <a:ext cx="274320" cy="292608"/>
          </a:xfrm>
          <a:prstGeom prst="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6" name="Image 7" descr="C:\Users\dididimer\Documents\dimer-ppt\fresh_prm_clinic\assets\metric_hear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8536" y="3694176"/>
            <a:ext cx="274320" cy="29260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4636008" y="3703320"/>
            <a:ext cx="6583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临床帮助</a:t>
            </a:r>
            <a:endParaRPr lang="en-US" sz="810" dirty="0"/>
          </a:p>
        </p:txBody>
      </p:sp>
      <p:sp>
        <p:nvSpPr>
          <p:cNvPr id="48" name="Text 38"/>
          <p:cNvSpPr/>
          <p:nvPr/>
        </p:nvSpPr>
        <p:spPr>
          <a:xfrm>
            <a:off x="4636008" y="3913632"/>
            <a:ext cx="67665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Helpfulness</a:t>
            </a:r>
            <a:endParaRPr lang="en-US" sz="640" dirty="0"/>
          </a:p>
        </p:txBody>
      </p:sp>
      <p:sp>
        <p:nvSpPr>
          <p:cNvPr id="49" name="Shape 39"/>
          <p:cNvSpPr/>
          <p:nvPr/>
        </p:nvSpPr>
        <p:spPr>
          <a:xfrm>
            <a:off x="365760" y="4782312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475488" y="4928616"/>
            <a:ext cx="466344" cy="429768"/>
          </a:xfrm>
          <a:prstGeom prst="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Image 8" descr="C:\Users\dididimer\Documents\dimer-ppt\fresh_prm_clinic\assets\small_robo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" y="4928616"/>
            <a:ext cx="466344" cy="42976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005840" y="4864608"/>
            <a:ext cx="768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候选笔记 A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A</a:t>
            </a:r>
            <a:endParaRPr lang="en-US" sz="860" dirty="0"/>
          </a:p>
        </p:txBody>
      </p:sp>
      <p:sp>
        <p:nvSpPr>
          <p:cNvPr id="53" name="Text 42"/>
          <p:cNvSpPr/>
          <p:nvPr/>
        </p:nvSpPr>
        <p:spPr>
          <a:xfrm>
            <a:off x="1115568" y="5266944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3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7.8</a:t>
            </a:r>
            <a:endParaRPr lang="en-US" sz="1750" dirty="0"/>
          </a:p>
        </p:txBody>
      </p:sp>
      <p:sp>
        <p:nvSpPr>
          <p:cNvPr id="54" name="Shape 43"/>
          <p:cNvSpPr/>
          <p:nvPr/>
        </p:nvSpPr>
        <p:spPr>
          <a:xfrm>
            <a:off x="530352" y="5596128"/>
            <a:ext cx="1225296" cy="91440"/>
          </a:xfrm>
          <a:prstGeom prst="roundRect">
            <a:avLst>
              <a:gd name="adj" fmla="val 40000"/>
            </a:avLst>
          </a:prstGeom>
          <a:solidFill>
            <a:srgbClr val="ECECEC"/>
          </a:solidFill>
          <a:ln w="5080">
            <a:solidFill>
              <a:srgbClr val="9CA3AF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30352" y="5596128"/>
            <a:ext cx="1004743" cy="91440"/>
          </a:xfrm>
          <a:prstGeom prst="roundRect">
            <a:avLst>
              <a:gd name="adj" fmla="val 40000"/>
            </a:avLst>
          </a:prstGeom>
          <a:solidFill>
            <a:srgbClr val="34A853"/>
          </a:solidFill>
          <a:ln w="5080">
            <a:solidFill>
              <a:srgbClr val="34A853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2057400" y="4782312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2167128" y="4928616"/>
            <a:ext cx="466344" cy="429768"/>
          </a:xfrm>
          <a:prstGeom prst="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8" name="Image 9" descr="C:\Users\dididimer\Documents\dimer-ppt\fresh_prm_clinic\assets\small_robo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7128" y="4928616"/>
            <a:ext cx="466344" cy="429768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2697480" y="4864608"/>
            <a:ext cx="768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候选笔记 B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B</a:t>
            </a:r>
            <a:endParaRPr lang="en-US" sz="860" dirty="0"/>
          </a:p>
        </p:txBody>
      </p:sp>
      <p:sp>
        <p:nvSpPr>
          <p:cNvPr id="60" name="Text 48"/>
          <p:cNvSpPr/>
          <p:nvPr/>
        </p:nvSpPr>
        <p:spPr>
          <a:xfrm>
            <a:off x="2807208" y="5266944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4B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5.4</a:t>
            </a:r>
            <a:endParaRPr lang="en-US" sz="1750" dirty="0"/>
          </a:p>
        </p:txBody>
      </p:sp>
      <p:sp>
        <p:nvSpPr>
          <p:cNvPr id="61" name="Shape 49"/>
          <p:cNvSpPr/>
          <p:nvPr/>
        </p:nvSpPr>
        <p:spPr>
          <a:xfrm>
            <a:off x="2221992" y="5596128"/>
            <a:ext cx="1225296" cy="91440"/>
          </a:xfrm>
          <a:prstGeom prst="roundRect">
            <a:avLst>
              <a:gd name="adj" fmla="val 40000"/>
            </a:avLst>
          </a:prstGeom>
          <a:solidFill>
            <a:srgbClr val="ECECEC"/>
          </a:solidFill>
          <a:ln w="5080">
            <a:solidFill>
              <a:srgbClr val="9CA3AF"/>
            </a:solidFill>
            <a:prstDash val="solid"/>
          </a:ln>
        </p:spPr>
      </p:sp>
      <p:sp>
        <p:nvSpPr>
          <p:cNvPr id="62" name="Shape 50"/>
          <p:cNvSpPr/>
          <p:nvPr/>
        </p:nvSpPr>
        <p:spPr>
          <a:xfrm>
            <a:off x="2221992" y="5596128"/>
            <a:ext cx="673913" cy="91440"/>
          </a:xfrm>
          <a:prstGeom prst="roundRect">
            <a:avLst>
              <a:gd name="adj" fmla="val 40000"/>
            </a:avLst>
          </a:prstGeom>
          <a:solidFill>
            <a:srgbClr val="F4B400"/>
          </a:solidFill>
          <a:ln w="5080">
            <a:solidFill>
              <a:srgbClr val="F4B400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3730752" y="4782312"/>
            <a:ext cx="15361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3840480" y="4928616"/>
            <a:ext cx="466344" cy="429768"/>
          </a:xfrm>
          <a:prstGeom prst="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5" name="Image 10" descr="C:\Users\dididimer\Documents\dimer-ppt\fresh_prm_clinic\assets\small_robo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480" y="4928616"/>
            <a:ext cx="466344" cy="429768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4370832" y="4864608"/>
            <a:ext cx="768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候选笔记 C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 C</a:t>
            </a:r>
            <a:endParaRPr lang="en-US" sz="860" dirty="0"/>
          </a:p>
        </p:txBody>
      </p:sp>
      <p:sp>
        <p:nvSpPr>
          <p:cNvPr id="67" name="Text 54"/>
          <p:cNvSpPr/>
          <p:nvPr/>
        </p:nvSpPr>
        <p:spPr>
          <a:xfrm>
            <a:off x="4480560" y="5266944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A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750" dirty="0"/>
          </a:p>
        </p:txBody>
      </p:sp>
      <p:sp>
        <p:nvSpPr>
          <p:cNvPr id="68" name="Shape 55"/>
          <p:cNvSpPr/>
          <p:nvPr/>
        </p:nvSpPr>
        <p:spPr>
          <a:xfrm>
            <a:off x="3895344" y="5596128"/>
            <a:ext cx="1225296" cy="91440"/>
          </a:xfrm>
          <a:prstGeom prst="roundRect">
            <a:avLst>
              <a:gd name="adj" fmla="val 40000"/>
            </a:avLst>
          </a:prstGeom>
          <a:solidFill>
            <a:srgbClr val="ECECEC"/>
          </a:solidFill>
          <a:ln w="5080">
            <a:solidFill>
              <a:srgbClr val="9CA3AF"/>
            </a:solidFill>
            <a:prstDash val="solid"/>
          </a:ln>
        </p:spPr>
      </p:sp>
      <p:sp>
        <p:nvSpPr>
          <p:cNvPr id="69" name="Shape 56"/>
          <p:cNvSpPr/>
          <p:nvPr/>
        </p:nvSpPr>
        <p:spPr>
          <a:xfrm>
            <a:off x="3895344" y="5596128"/>
            <a:ext cx="441107" cy="91440"/>
          </a:xfrm>
          <a:prstGeom prst="roundRect">
            <a:avLst>
              <a:gd name="adj" fmla="val 40000"/>
            </a:avLst>
          </a:prstGeom>
          <a:solidFill>
            <a:srgbClr val="EA4335"/>
          </a:solidFill>
          <a:ln w="5080">
            <a:solidFill>
              <a:srgbClr val="EA4335"/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>
            <a:off x="2606040" y="5815584"/>
            <a:ext cx="256032" cy="347472"/>
          </a:xfrm>
          <a:prstGeom prst="downArrow">
            <a:avLst/>
          </a:prstGeom>
          <a:solidFill>
            <a:srgbClr val="1E88D8"/>
          </a:solidFill>
          <a:ln w="12700">
            <a:solidFill>
              <a:srgbClr val="1E88D8">
                <a:alpha val="0"/>
              </a:srgbClr>
            </a:solidFill>
            <a:prstDash val="solid"/>
          </a:ln>
        </p:spPr>
      </p:sp>
      <p:sp>
        <p:nvSpPr>
          <p:cNvPr id="71" name="Shape 58"/>
          <p:cNvSpPr/>
          <p:nvPr/>
        </p:nvSpPr>
        <p:spPr>
          <a:xfrm>
            <a:off x="1207008" y="6199632"/>
            <a:ext cx="3127248" cy="896112"/>
          </a:xfrm>
          <a:prstGeom prst="roundRect">
            <a:avLst>
              <a:gd name="adj" fmla="val 8163"/>
            </a:avLst>
          </a:prstGeom>
          <a:solidFill>
            <a:srgbClr val="F9FCFF"/>
          </a:solidFill>
          <a:ln w="13970">
            <a:solidFill>
              <a:srgbClr val="102A63"/>
            </a:solidFill>
            <a:prstDash val="solid"/>
          </a:ln>
        </p:spPr>
      </p:sp>
      <p:sp>
        <p:nvSpPr>
          <p:cNvPr id="72" name="Shape 59"/>
          <p:cNvSpPr/>
          <p:nvPr/>
        </p:nvSpPr>
        <p:spPr>
          <a:xfrm>
            <a:off x="1335024" y="6291072"/>
            <a:ext cx="713232" cy="621792"/>
          </a:xfrm>
          <a:prstGeom prst="rect">
            <a:avLst>
              <a:gd name="adj" fmla="val 11765"/>
            </a:avLst>
          </a:prstGeom>
          <a:solidFill>
            <a:srgbClr val="F9FCFF"/>
          </a:solidFill>
          <a:ln w="12700">
            <a:solidFill>
              <a:srgbClr val="F9FCFF"/>
            </a:solidFill>
            <a:prstDash val="solid"/>
          </a:ln>
        </p:spPr>
      </p:sp>
      <p:pic>
        <p:nvPicPr>
          <p:cNvPr id="73" name="Image 11" descr="C:\Users\dididimer\Documents\dimer-ppt\fresh_prm_clinic\assets\best_doc_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5024" y="6291072"/>
            <a:ext cx="713232" cy="621792"/>
          </a:xfrm>
          <a:prstGeom prst="rect">
            <a:avLst/>
          </a:prstGeom>
        </p:spPr>
      </p:pic>
      <p:sp>
        <p:nvSpPr>
          <p:cNvPr id="74" name="Text 60"/>
          <p:cNvSpPr/>
          <p:nvPr/>
        </p:nvSpPr>
        <p:spPr>
          <a:xfrm>
            <a:off x="2267712" y="6355080"/>
            <a:ext cx="1097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最佳笔记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Best-of-N</a:t>
            </a:r>
            <a:endParaRPr lang="en-US" sz="1480" dirty="0"/>
          </a:p>
        </p:txBody>
      </p:sp>
      <p:sp>
        <p:nvSpPr>
          <p:cNvPr id="75" name="Shape 61"/>
          <p:cNvSpPr/>
          <p:nvPr/>
        </p:nvSpPr>
        <p:spPr>
          <a:xfrm>
            <a:off x="3593592" y="6300216"/>
            <a:ext cx="539496" cy="585216"/>
          </a:xfrm>
          <a:prstGeom prst="rect">
            <a:avLst>
              <a:gd name="adj" fmla="val 13559"/>
            </a:avLst>
          </a:prstGeom>
          <a:solidFill>
            <a:srgbClr val="F9FCFF"/>
          </a:solidFill>
          <a:ln w="12700">
            <a:solidFill>
              <a:srgbClr val="F9FCFF"/>
            </a:solidFill>
            <a:prstDash val="solid"/>
          </a:ln>
        </p:spPr>
      </p:sp>
      <p:pic>
        <p:nvPicPr>
          <p:cNvPr id="76" name="Image 12" descr="C:\Users\dididimer\Documents\dimer-ppt\fresh_prm_clinic\assets\troph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3592" y="6300216"/>
            <a:ext cx="539496" cy="585216"/>
          </a:xfrm>
          <a:prstGeom prst="rect">
            <a:avLst/>
          </a:prstGeom>
        </p:spPr>
      </p:pic>
      <p:sp>
        <p:nvSpPr>
          <p:cNvPr id="77" name="Text 62"/>
          <p:cNvSpPr/>
          <p:nvPr/>
        </p:nvSpPr>
        <p:spPr>
          <a:xfrm>
            <a:off x="5870448" y="960120"/>
            <a:ext cx="3108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71C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Step Decomposition  步骤拆解</a:t>
            </a:r>
            <a:endParaRPr lang="en-US" sz="1300" dirty="0"/>
          </a:p>
        </p:txBody>
      </p:sp>
      <p:sp>
        <p:nvSpPr>
          <p:cNvPr id="78" name="Shape 63"/>
          <p:cNvSpPr/>
          <p:nvPr/>
        </p:nvSpPr>
        <p:spPr>
          <a:xfrm>
            <a:off x="5852160" y="1426464"/>
            <a:ext cx="1463040" cy="1627632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0160">
            <a:solidFill>
              <a:srgbClr val="B0B0B0"/>
            </a:solidFill>
            <a:prstDash val="solid"/>
          </a:ln>
        </p:spPr>
      </p:sp>
      <p:sp>
        <p:nvSpPr>
          <p:cNvPr id="79" name="Text 64"/>
          <p:cNvSpPr/>
          <p:nvPr/>
        </p:nvSpPr>
        <p:spPr>
          <a:xfrm>
            <a:off x="5961888" y="1517904"/>
            <a:ext cx="12435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临床笔记 Clinical Note</a:t>
            </a:r>
            <a:endParaRPr lang="en-US" sz="750" dirty="0"/>
          </a:p>
        </p:txBody>
      </p:sp>
      <p:sp>
        <p:nvSpPr>
          <p:cNvPr id="80" name="Shape 65"/>
          <p:cNvSpPr/>
          <p:nvPr/>
        </p:nvSpPr>
        <p:spPr>
          <a:xfrm>
            <a:off x="6080760" y="1792224"/>
            <a:ext cx="987552" cy="117043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6812280" y="1792224"/>
            <a:ext cx="256032" cy="256032"/>
          </a:xfrm>
          <a:prstGeom prst="rtTriangle">
            <a:avLst/>
          </a:prstGeom>
          <a:solidFill>
            <a:srgbClr val="F4F7FB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82" name="Shape 67"/>
          <p:cNvSpPr/>
          <p:nvPr/>
        </p:nvSpPr>
        <p:spPr>
          <a:xfrm>
            <a:off x="6245352" y="2093976"/>
            <a:ext cx="658368" cy="914"/>
          </a:xfrm>
          <a:prstGeom prst="line">
            <a:avLst/>
          </a:prstGeom>
          <a:noFill/>
          <a:ln w="13970">
            <a:solidFill>
              <a:srgbClr val="BDBDBD"/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6245352" y="2276856"/>
            <a:ext cx="658368" cy="914"/>
          </a:xfrm>
          <a:prstGeom prst="line">
            <a:avLst/>
          </a:prstGeom>
          <a:noFill/>
          <a:ln w="13970">
            <a:solidFill>
              <a:srgbClr val="BDBDBD"/>
            </a:solidFill>
            <a:prstDash val="solid"/>
          </a:ln>
        </p:spPr>
      </p:sp>
      <p:sp>
        <p:nvSpPr>
          <p:cNvPr id="84" name="Shape 69"/>
          <p:cNvSpPr/>
          <p:nvPr/>
        </p:nvSpPr>
        <p:spPr>
          <a:xfrm>
            <a:off x="6245352" y="2459736"/>
            <a:ext cx="658368" cy="914"/>
          </a:xfrm>
          <a:prstGeom prst="line">
            <a:avLst/>
          </a:prstGeom>
          <a:noFill/>
          <a:ln w="13970">
            <a:solidFill>
              <a:srgbClr val="BDBDBD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>
            <a:off x="6236208" y="1947672"/>
            <a:ext cx="411480" cy="64008"/>
          </a:xfrm>
          <a:prstGeom prst="roundRect">
            <a:avLst>
              <a:gd name="adj" fmla="val 28571"/>
            </a:avLst>
          </a:prstGeom>
          <a:solidFill>
            <a:srgbClr val="F8B9BD"/>
          </a:solidFill>
          <a:ln w="12700">
            <a:solidFill>
              <a:srgbClr val="F8B9BD"/>
            </a:solidFill>
            <a:prstDash val="solid"/>
          </a:ln>
        </p:spPr>
      </p:sp>
      <p:sp>
        <p:nvSpPr>
          <p:cNvPr id="86" name="Shape 71"/>
          <p:cNvSpPr/>
          <p:nvPr/>
        </p:nvSpPr>
        <p:spPr>
          <a:xfrm>
            <a:off x="6236208" y="2112264"/>
            <a:ext cx="713232" cy="64008"/>
          </a:xfrm>
          <a:prstGeom prst="roundRect">
            <a:avLst>
              <a:gd name="adj" fmla="val 28571"/>
            </a:avLst>
          </a:prstGeom>
          <a:solidFill>
            <a:srgbClr val="F8B9BD"/>
          </a:solidFill>
          <a:ln w="12700">
            <a:solidFill>
              <a:srgbClr val="F8B9BD"/>
            </a:solidFill>
            <a:prstDash val="solid"/>
          </a:ln>
        </p:spPr>
      </p:sp>
      <p:sp>
        <p:nvSpPr>
          <p:cNvPr id="87" name="Shape 72"/>
          <p:cNvSpPr/>
          <p:nvPr/>
        </p:nvSpPr>
        <p:spPr>
          <a:xfrm>
            <a:off x="6236208" y="2276856"/>
            <a:ext cx="713232" cy="64008"/>
          </a:xfrm>
          <a:prstGeom prst="roundRect">
            <a:avLst>
              <a:gd name="adj" fmla="val 28571"/>
            </a:avLst>
          </a:prstGeom>
          <a:solidFill>
            <a:srgbClr val="FFE58A"/>
          </a:solidFill>
          <a:ln w="12700">
            <a:solidFill>
              <a:srgbClr val="FFE58A"/>
            </a:solidFill>
            <a:prstDash val="solid"/>
          </a:ln>
        </p:spPr>
      </p:sp>
      <p:sp>
        <p:nvSpPr>
          <p:cNvPr id="88" name="Shape 73"/>
          <p:cNvSpPr/>
          <p:nvPr/>
        </p:nvSpPr>
        <p:spPr>
          <a:xfrm>
            <a:off x="6236208" y="2441448"/>
            <a:ext cx="713232" cy="64008"/>
          </a:xfrm>
          <a:prstGeom prst="roundRect">
            <a:avLst>
              <a:gd name="adj" fmla="val 28571"/>
            </a:avLst>
          </a:prstGeom>
          <a:solidFill>
            <a:srgbClr val="A8D5A2"/>
          </a:solidFill>
          <a:ln w="12700">
            <a:solidFill>
              <a:srgbClr val="A8D5A2"/>
            </a:solidFill>
            <a:prstDash val="solid"/>
          </a:ln>
        </p:spPr>
      </p:sp>
      <p:sp>
        <p:nvSpPr>
          <p:cNvPr id="89" name="Shape 74"/>
          <p:cNvSpPr/>
          <p:nvPr/>
        </p:nvSpPr>
        <p:spPr>
          <a:xfrm>
            <a:off x="6236208" y="2606040"/>
            <a:ext cx="713232" cy="64008"/>
          </a:xfrm>
          <a:prstGeom prst="roundRect">
            <a:avLst>
              <a:gd name="adj" fmla="val 28571"/>
            </a:avLst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90" name="Text 75"/>
          <p:cNvSpPr/>
          <p:nvPr/>
        </p:nvSpPr>
        <p:spPr>
          <a:xfrm>
            <a:off x="7452360" y="2048256"/>
            <a:ext cx="4754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Decompose</a:t>
            </a:r>
            <a:endParaRPr lang="en-US" sz="800" dirty="0"/>
          </a:p>
        </p:txBody>
      </p:sp>
      <p:sp>
        <p:nvSpPr>
          <p:cNvPr id="91" name="Shape 76"/>
          <p:cNvSpPr/>
          <p:nvPr/>
        </p:nvSpPr>
        <p:spPr>
          <a:xfrm>
            <a:off x="7653528" y="2267712"/>
            <a:ext cx="320040" cy="201168"/>
          </a:xfrm>
          <a:prstGeom prst="rightArrow">
            <a:avLst/>
          </a:prstGeom>
          <a:solidFill>
            <a:srgbClr val="222222"/>
          </a:solidFill>
          <a:ln w="12700">
            <a:solidFill>
              <a:srgbClr val="222222">
                <a:alpha val="0"/>
              </a:srgbClr>
            </a:solidFill>
            <a:prstDash val="solid"/>
          </a:ln>
        </p:spPr>
      </p:sp>
      <p:sp>
        <p:nvSpPr>
          <p:cNvPr id="92" name="Shape 77"/>
          <p:cNvSpPr/>
          <p:nvPr/>
        </p:nvSpPr>
        <p:spPr>
          <a:xfrm>
            <a:off x="8001000" y="1280160"/>
            <a:ext cx="1627632" cy="1920240"/>
          </a:xfrm>
          <a:prstGeom prst="roundRect">
            <a:avLst>
              <a:gd name="adj" fmla="val 5056"/>
            </a:avLst>
          </a:prstGeom>
          <a:solidFill>
            <a:srgbClr val="FBFBFB"/>
          </a:solidFill>
          <a:ln w="10160">
            <a:solidFill>
              <a:srgbClr val="B0B0B0"/>
            </a:solidFill>
            <a:prstDash val="solid"/>
          </a:ln>
        </p:spPr>
      </p:sp>
      <p:sp>
        <p:nvSpPr>
          <p:cNvPr id="93" name="Text 78"/>
          <p:cNvSpPr/>
          <p:nvPr/>
        </p:nvSpPr>
        <p:spPr>
          <a:xfrm>
            <a:off x="8229600" y="1371600"/>
            <a:ext cx="11704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步骤图 Step Graph</a:t>
            </a:r>
            <a:endParaRPr lang="en-US" sz="840" dirty="0"/>
          </a:p>
        </p:txBody>
      </p:sp>
      <p:sp>
        <p:nvSpPr>
          <p:cNvPr id="94" name="Shape 79"/>
          <p:cNvSpPr/>
          <p:nvPr/>
        </p:nvSpPr>
        <p:spPr>
          <a:xfrm flipH="1">
            <a:off x="8375904" y="1792224"/>
            <a:ext cx="274320" cy="246888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95" name="Shape 80"/>
          <p:cNvSpPr/>
          <p:nvPr/>
        </p:nvSpPr>
        <p:spPr>
          <a:xfrm>
            <a:off x="8375904" y="2112264"/>
            <a:ext cx="914" cy="292608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96" name="Shape 81"/>
          <p:cNvSpPr/>
          <p:nvPr/>
        </p:nvSpPr>
        <p:spPr>
          <a:xfrm>
            <a:off x="8375904" y="2478024"/>
            <a:ext cx="914" cy="292608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97" name="Shape 82"/>
          <p:cNvSpPr/>
          <p:nvPr/>
        </p:nvSpPr>
        <p:spPr>
          <a:xfrm>
            <a:off x="8375904" y="2843784"/>
            <a:ext cx="274320" cy="201168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98" name="Shape 83"/>
          <p:cNvSpPr/>
          <p:nvPr/>
        </p:nvSpPr>
        <p:spPr>
          <a:xfrm>
            <a:off x="8558784" y="1609344"/>
            <a:ext cx="182880" cy="182880"/>
          </a:xfrm>
          <a:prstGeom prst="ellipse">
            <a:avLst/>
          </a:prstGeom>
          <a:solidFill>
            <a:srgbClr val="BBDCF7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99" name="Shape 84"/>
          <p:cNvSpPr/>
          <p:nvPr/>
        </p:nvSpPr>
        <p:spPr>
          <a:xfrm>
            <a:off x="8284464" y="1929384"/>
            <a:ext cx="182880" cy="182880"/>
          </a:xfrm>
          <a:prstGeom prst="ellipse">
            <a:avLst/>
          </a:prstGeom>
          <a:solidFill>
            <a:srgbClr val="BEE4BF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00" name="Shape 85"/>
          <p:cNvSpPr/>
          <p:nvPr/>
        </p:nvSpPr>
        <p:spPr>
          <a:xfrm>
            <a:off x="8284464" y="2295144"/>
            <a:ext cx="182880" cy="182880"/>
          </a:xfrm>
          <a:prstGeom prst="ellipse">
            <a:avLst/>
          </a:prstGeom>
          <a:solidFill>
            <a:srgbClr val="FFE29B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01" name="Shape 86"/>
          <p:cNvSpPr/>
          <p:nvPr/>
        </p:nvSpPr>
        <p:spPr>
          <a:xfrm>
            <a:off x="8284464" y="2660904"/>
            <a:ext cx="182880" cy="182880"/>
          </a:xfrm>
          <a:prstGeom prst="ellipse">
            <a:avLst/>
          </a:prstGeom>
          <a:solidFill>
            <a:srgbClr val="D8C5F0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02" name="Shape 87"/>
          <p:cNvSpPr/>
          <p:nvPr/>
        </p:nvSpPr>
        <p:spPr>
          <a:xfrm>
            <a:off x="8558784" y="2935224"/>
            <a:ext cx="182880" cy="182880"/>
          </a:xfrm>
          <a:prstGeom prst="ellipse">
            <a:avLst/>
          </a:prstGeom>
          <a:solidFill>
            <a:srgbClr val="E5E5E5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03" name="Shape 88"/>
          <p:cNvSpPr/>
          <p:nvPr/>
        </p:nvSpPr>
        <p:spPr>
          <a:xfrm>
            <a:off x="9144000" y="1591056"/>
            <a:ext cx="731520" cy="914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4" name="Shape 89"/>
          <p:cNvSpPr/>
          <p:nvPr/>
        </p:nvSpPr>
        <p:spPr>
          <a:xfrm>
            <a:off x="9838944" y="144475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DDEBF7"/>
          </a:solidFill>
          <a:ln w="8890">
            <a:solidFill>
              <a:srgbClr val="7D8DA1"/>
            </a:solidFill>
            <a:prstDash val="solid"/>
          </a:ln>
        </p:spPr>
      </p:sp>
      <p:sp>
        <p:nvSpPr>
          <p:cNvPr id="105" name="Text 90"/>
          <p:cNvSpPr/>
          <p:nvPr/>
        </p:nvSpPr>
        <p:spPr>
          <a:xfrm>
            <a:off x="9921240" y="1476756"/>
            <a:ext cx="14447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Problem（问题）</a:t>
            </a:r>
            <a:endParaRPr lang="en-US" sz="710" dirty="0"/>
          </a:p>
        </p:txBody>
      </p:sp>
      <p:sp>
        <p:nvSpPr>
          <p:cNvPr id="106" name="Shape 91"/>
          <p:cNvSpPr/>
          <p:nvPr/>
        </p:nvSpPr>
        <p:spPr>
          <a:xfrm>
            <a:off x="11558016" y="1508760"/>
            <a:ext cx="146304" cy="146304"/>
          </a:xfrm>
          <a:prstGeom prst="ellipse">
            <a:avLst/>
          </a:prstGeom>
          <a:solidFill>
            <a:srgbClr val="DFF4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7" name="Shape 92"/>
          <p:cNvSpPr/>
          <p:nvPr/>
        </p:nvSpPr>
        <p:spPr>
          <a:xfrm>
            <a:off x="11686032" y="1636776"/>
            <a:ext cx="109728" cy="10972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</a:ln>
        </p:spPr>
      </p:sp>
      <p:sp>
        <p:nvSpPr>
          <p:cNvPr id="108" name="Shape 93"/>
          <p:cNvSpPr/>
          <p:nvPr/>
        </p:nvSpPr>
        <p:spPr>
          <a:xfrm>
            <a:off x="9144000" y="2002536"/>
            <a:ext cx="731520" cy="914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09" name="Shape 94"/>
          <p:cNvSpPr/>
          <p:nvPr/>
        </p:nvSpPr>
        <p:spPr>
          <a:xfrm>
            <a:off x="9838944" y="185623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D8F0D7"/>
          </a:solidFill>
          <a:ln w="8890">
            <a:solidFill>
              <a:srgbClr val="7D8DA1"/>
            </a:solidFill>
            <a:prstDash val="solid"/>
          </a:ln>
        </p:spPr>
      </p:sp>
      <p:sp>
        <p:nvSpPr>
          <p:cNvPr id="110" name="Text 95"/>
          <p:cNvSpPr/>
          <p:nvPr/>
        </p:nvSpPr>
        <p:spPr>
          <a:xfrm>
            <a:off x="9921240" y="1888236"/>
            <a:ext cx="14447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Sentence（句子级信息）</a:t>
            </a:r>
            <a:endParaRPr lang="en-US" sz="710" dirty="0"/>
          </a:p>
        </p:txBody>
      </p:sp>
      <p:sp>
        <p:nvSpPr>
          <p:cNvPr id="111" name="Shape 96"/>
          <p:cNvSpPr/>
          <p:nvPr/>
        </p:nvSpPr>
        <p:spPr>
          <a:xfrm>
            <a:off x="11558016" y="1920240"/>
            <a:ext cx="146304" cy="146304"/>
          </a:xfrm>
          <a:prstGeom prst="ellipse">
            <a:avLst/>
          </a:prstGeom>
          <a:solidFill>
            <a:srgbClr val="DFF4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2" name="Shape 97"/>
          <p:cNvSpPr/>
          <p:nvPr/>
        </p:nvSpPr>
        <p:spPr>
          <a:xfrm>
            <a:off x="11686032" y="2048256"/>
            <a:ext cx="109728" cy="10972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</a:ln>
        </p:spPr>
      </p:sp>
      <p:sp>
        <p:nvSpPr>
          <p:cNvPr id="113" name="Shape 98"/>
          <p:cNvSpPr/>
          <p:nvPr/>
        </p:nvSpPr>
        <p:spPr>
          <a:xfrm>
            <a:off x="9144000" y="2414016"/>
            <a:ext cx="731520" cy="914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4" name="Shape 99"/>
          <p:cNvSpPr/>
          <p:nvPr/>
        </p:nvSpPr>
        <p:spPr>
          <a:xfrm>
            <a:off x="9838944" y="226771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FFF0C6"/>
          </a:solidFill>
          <a:ln w="8890">
            <a:solidFill>
              <a:srgbClr val="7D8DA1"/>
            </a:solidFill>
            <a:prstDash val="solid"/>
          </a:ln>
        </p:spPr>
      </p:sp>
      <p:sp>
        <p:nvSpPr>
          <p:cNvPr id="115" name="Text 100"/>
          <p:cNvSpPr/>
          <p:nvPr/>
        </p:nvSpPr>
        <p:spPr>
          <a:xfrm>
            <a:off x="9921240" y="2299716"/>
            <a:ext cx="14447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Completeness（完整性检查）</a:t>
            </a:r>
            <a:endParaRPr lang="en-US" sz="710" dirty="0"/>
          </a:p>
        </p:txBody>
      </p:sp>
      <p:sp>
        <p:nvSpPr>
          <p:cNvPr id="116" name="Shape 101"/>
          <p:cNvSpPr/>
          <p:nvPr/>
        </p:nvSpPr>
        <p:spPr>
          <a:xfrm>
            <a:off x="11558016" y="2331720"/>
            <a:ext cx="146304" cy="146304"/>
          </a:xfrm>
          <a:prstGeom prst="ellipse">
            <a:avLst/>
          </a:prstGeom>
          <a:solidFill>
            <a:srgbClr val="DFF4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7" name="Shape 102"/>
          <p:cNvSpPr/>
          <p:nvPr/>
        </p:nvSpPr>
        <p:spPr>
          <a:xfrm>
            <a:off x="11686032" y="2459736"/>
            <a:ext cx="109728" cy="10972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</a:ln>
        </p:spPr>
      </p:sp>
      <p:sp>
        <p:nvSpPr>
          <p:cNvPr id="118" name="Shape 103"/>
          <p:cNvSpPr/>
          <p:nvPr/>
        </p:nvSpPr>
        <p:spPr>
          <a:xfrm>
            <a:off x="9144000" y="2825496"/>
            <a:ext cx="731520" cy="914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19" name="Shape 104"/>
          <p:cNvSpPr/>
          <p:nvPr/>
        </p:nvSpPr>
        <p:spPr>
          <a:xfrm>
            <a:off x="9838944" y="2679192"/>
            <a:ext cx="1627632" cy="274320"/>
          </a:xfrm>
          <a:prstGeom prst="roundRect">
            <a:avLst>
              <a:gd name="adj" fmla="val 13333"/>
            </a:avLst>
          </a:prstGeom>
          <a:solidFill>
            <a:srgbClr val="E8DFF7"/>
          </a:solidFill>
          <a:ln w="8890">
            <a:solidFill>
              <a:srgbClr val="7D8DA1"/>
            </a:solidFill>
            <a:prstDash val="solid"/>
          </a:ln>
        </p:spPr>
      </p:sp>
      <p:sp>
        <p:nvSpPr>
          <p:cNvPr id="120" name="Text 105"/>
          <p:cNvSpPr/>
          <p:nvPr/>
        </p:nvSpPr>
        <p:spPr>
          <a:xfrm>
            <a:off x="9921240" y="2711196"/>
            <a:ext cx="144475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End-of-note（结束判断）</a:t>
            </a:r>
            <a:endParaRPr lang="en-US" sz="710" dirty="0"/>
          </a:p>
        </p:txBody>
      </p:sp>
      <p:sp>
        <p:nvSpPr>
          <p:cNvPr id="121" name="Shape 106"/>
          <p:cNvSpPr/>
          <p:nvPr/>
        </p:nvSpPr>
        <p:spPr>
          <a:xfrm>
            <a:off x="11558016" y="2743200"/>
            <a:ext cx="146304" cy="146304"/>
          </a:xfrm>
          <a:prstGeom prst="ellipse">
            <a:avLst/>
          </a:prstGeom>
          <a:solidFill>
            <a:srgbClr val="DFF4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2" name="Shape 107"/>
          <p:cNvSpPr/>
          <p:nvPr/>
        </p:nvSpPr>
        <p:spPr>
          <a:xfrm>
            <a:off x="11686032" y="2871216"/>
            <a:ext cx="109728" cy="109728"/>
          </a:xfrm>
          <a:prstGeom prst="line">
            <a:avLst/>
          </a:prstGeom>
          <a:noFill/>
          <a:ln w="17780">
            <a:solidFill>
              <a:srgbClr val="1F2937"/>
            </a:solidFill>
            <a:prstDash val="solid"/>
          </a:ln>
        </p:spPr>
      </p:sp>
      <p:sp>
        <p:nvSpPr>
          <p:cNvPr id="123" name="Shape 108"/>
          <p:cNvSpPr/>
          <p:nvPr/>
        </p:nvSpPr>
        <p:spPr>
          <a:xfrm>
            <a:off x="12143232" y="1399032"/>
            <a:ext cx="1261872" cy="157276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1430">
            <a:solidFill>
              <a:srgbClr val="B71C3B"/>
            </a:solidFill>
            <a:prstDash val="solid"/>
          </a:ln>
        </p:spPr>
      </p:sp>
      <p:sp>
        <p:nvSpPr>
          <p:cNvPr id="124" name="Shape 109"/>
          <p:cNvSpPr/>
          <p:nvPr/>
        </p:nvSpPr>
        <p:spPr>
          <a:xfrm>
            <a:off x="12444984" y="1572768"/>
            <a:ext cx="658368" cy="713232"/>
          </a:xfrm>
          <a:prstGeom prst="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5" name="Image 13" descr="C:\Users\dididimer\Documents\dimer-ppt\fresh_prm_clinic\assets\clipboard_warning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444984" y="1572768"/>
            <a:ext cx="658368" cy="713232"/>
          </a:xfrm>
          <a:prstGeom prst="rect">
            <a:avLst/>
          </a:prstGeom>
        </p:spPr>
      </p:pic>
      <p:sp>
        <p:nvSpPr>
          <p:cNvPr id="126" name="Text 110"/>
          <p:cNvSpPr/>
          <p:nvPr/>
        </p:nvSpPr>
        <p:spPr>
          <a:xfrm>
            <a:off x="12390120" y="2423160"/>
            <a:ext cx="73152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避免短答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但漏项</a:t>
            </a:r>
            <a:endParaRPr lang="en-US" sz="1000" dirty="0"/>
          </a:p>
        </p:txBody>
      </p:sp>
      <p:sp>
        <p:nvSpPr>
          <p:cNvPr id="127" name="Text 111"/>
          <p:cNvSpPr/>
          <p:nvPr/>
        </p:nvSpPr>
        <p:spPr>
          <a:xfrm>
            <a:off x="5870448" y="3465576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(b) Process Reward  逐步奖励</a:t>
            </a:r>
            <a:endParaRPr lang="en-US" sz="1300" dirty="0"/>
          </a:p>
        </p:txBody>
      </p:sp>
      <p:sp>
        <p:nvSpPr>
          <p:cNvPr id="128" name="Text 112"/>
          <p:cNvSpPr/>
          <p:nvPr/>
        </p:nvSpPr>
        <p:spPr>
          <a:xfrm>
            <a:off x="5916168" y="3840480"/>
            <a:ext cx="5120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i</a:t>
            </a:r>
            <a:endParaRPr lang="en-US" sz="900" dirty="0"/>
          </a:p>
        </p:txBody>
      </p:sp>
      <p:sp>
        <p:nvSpPr>
          <p:cNvPr id="129" name="Shape 113"/>
          <p:cNvSpPr/>
          <p:nvPr/>
        </p:nvSpPr>
        <p:spPr>
          <a:xfrm>
            <a:off x="6099048" y="4178808"/>
            <a:ext cx="914" cy="1033272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0" name="Shape 114"/>
          <p:cNvSpPr/>
          <p:nvPr/>
        </p:nvSpPr>
        <p:spPr>
          <a:xfrm>
            <a:off x="6547104" y="3931920"/>
            <a:ext cx="219456" cy="219456"/>
          </a:xfrm>
          <a:prstGeom prst="ellipse">
            <a:avLst/>
          </a:prstGeom>
          <a:solidFill>
            <a:srgbClr val="BBDCF7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1" name="Shape 115"/>
          <p:cNvSpPr/>
          <p:nvPr/>
        </p:nvSpPr>
        <p:spPr>
          <a:xfrm>
            <a:off x="6931152" y="4041648"/>
            <a:ext cx="566928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2" name="Shape 116"/>
          <p:cNvSpPr/>
          <p:nvPr/>
        </p:nvSpPr>
        <p:spPr>
          <a:xfrm>
            <a:off x="6547104" y="4334256"/>
            <a:ext cx="219456" cy="219456"/>
          </a:xfrm>
          <a:prstGeom prst="ellipse">
            <a:avLst/>
          </a:prstGeom>
          <a:solidFill>
            <a:srgbClr val="BEE4B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3" name="Shape 117"/>
          <p:cNvSpPr/>
          <p:nvPr/>
        </p:nvSpPr>
        <p:spPr>
          <a:xfrm>
            <a:off x="6931152" y="4443984"/>
            <a:ext cx="566928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4" name="Shape 118"/>
          <p:cNvSpPr/>
          <p:nvPr/>
        </p:nvSpPr>
        <p:spPr>
          <a:xfrm>
            <a:off x="6547104" y="4736592"/>
            <a:ext cx="219456" cy="219456"/>
          </a:xfrm>
          <a:prstGeom prst="ellipse">
            <a:avLst/>
          </a:prstGeom>
          <a:solidFill>
            <a:srgbClr val="FFE29B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5" name="Shape 119"/>
          <p:cNvSpPr/>
          <p:nvPr/>
        </p:nvSpPr>
        <p:spPr>
          <a:xfrm>
            <a:off x="6931152" y="4846320"/>
            <a:ext cx="566928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6" name="Shape 120"/>
          <p:cNvSpPr/>
          <p:nvPr/>
        </p:nvSpPr>
        <p:spPr>
          <a:xfrm>
            <a:off x="6547104" y="5138928"/>
            <a:ext cx="219456" cy="219456"/>
          </a:xfrm>
          <a:prstGeom prst="ellipse">
            <a:avLst/>
          </a:prstGeom>
          <a:solidFill>
            <a:srgbClr val="D8C5F0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7" name="Shape 121"/>
          <p:cNvSpPr/>
          <p:nvPr/>
        </p:nvSpPr>
        <p:spPr>
          <a:xfrm>
            <a:off x="6931152" y="5248656"/>
            <a:ext cx="566928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8" name="Shape 122"/>
          <p:cNvSpPr/>
          <p:nvPr/>
        </p:nvSpPr>
        <p:spPr>
          <a:xfrm>
            <a:off x="7836408" y="4178808"/>
            <a:ext cx="749808" cy="749808"/>
          </a:xfrm>
          <a:prstGeom prst="rect">
            <a:avLst>
              <a:gd name="adj" fmla="val 9756"/>
            </a:avLst>
          </a:prstGeom>
          <a:solidFill>
            <a:srgbClr val="F3F9F3"/>
          </a:solidFill>
          <a:ln w="12700">
            <a:solidFill>
              <a:srgbClr val="F3F9F3"/>
            </a:solidFill>
            <a:prstDash val="solid"/>
          </a:ln>
        </p:spPr>
      </p:sp>
      <p:pic>
        <p:nvPicPr>
          <p:cNvPr id="139" name="Image 14" descr="C:\Users\dididimer\Documents\dimer-ppt\fresh_prm_clinic\assets\prm_robot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36408" y="4178808"/>
            <a:ext cx="749808" cy="749808"/>
          </a:xfrm>
          <a:prstGeom prst="rect">
            <a:avLst/>
          </a:prstGeom>
        </p:spPr>
      </p:pic>
      <p:sp>
        <p:nvSpPr>
          <p:cNvPr id="140" name="Text 123"/>
          <p:cNvSpPr/>
          <p:nvPr/>
        </p:nvSpPr>
        <p:spPr>
          <a:xfrm>
            <a:off x="7772400" y="4937760"/>
            <a:ext cx="9326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PRM 验证器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PRM Verifier</a:t>
            </a:r>
            <a:endParaRPr lang="en-US" sz="950" dirty="0"/>
          </a:p>
        </p:txBody>
      </p:sp>
      <p:sp>
        <p:nvSpPr>
          <p:cNvPr id="141" name="Text 124"/>
          <p:cNvSpPr/>
          <p:nvPr/>
        </p:nvSpPr>
        <p:spPr>
          <a:xfrm>
            <a:off x="9290304" y="3511296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得分 token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820" dirty="0"/>
          </a:p>
        </p:txBody>
      </p:sp>
      <p:sp>
        <p:nvSpPr>
          <p:cNvPr id="142" name="Text 125"/>
          <p:cNvSpPr/>
          <p:nvPr/>
        </p:nvSpPr>
        <p:spPr>
          <a:xfrm>
            <a:off x="10351008" y="3511296"/>
            <a:ext cx="8595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  pᵢ(+)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Probability</a:t>
            </a:r>
            <a:endParaRPr lang="en-US" sz="820" dirty="0"/>
          </a:p>
        </p:txBody>
      </p:sp>
      <p:sp>
        <p:nvSpPr>
          <p:cNvPr id="143" name="Shape 126"/>
          <p:cNvSpPr/>
          <p:nvPr/>
        </p:nvSpPr>
        <p:spPr>
          <a:xfrm>
            <a:off x="8869680" y="4096512"/>
            <a:ext cx="39319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44" name="Shape 127"/>
          <p:cNvSpPr/>
          <p:nvPr/>
        </p:nvSpPr>
        <p:spPr>
          <a:xfrm>
            <a:off x="9363456" y="3950208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45" name="Text 128"/>
          <p:cNvSpPr/>
          <p:nvPr/>
        </p:nvSpPr>
        <p:spPr>
          <a:xfrm>
            <a:off x="9518904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200" dirty="0"/>
          </a:p>
        </p:txBody>
      </p:sp>
      <p:sp>
        <p:nvSpPr>
          <p:cNvPr id="146" name="Shape 129"/>
          <p:cNvSpPr/>
          <p:nvPr/>
        </p:nvSpPr>
        <p:spPr>
          <a:xfrm>
            <a:off x="9893808" y="4096512"/>
            <a:ext cx="43891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47" name="Shape 130"/>
          <p:cNvSpPr/>
          <p:nvPr/>
        </p:nvSpPr>
        <p:spPr>
          <a:xfrm>
            <a:off x="10369296" y="3950208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48" name="Text 131"/>
          <p:cNvSpPr/>
          <p:nvPr/>
        </p:nvSpPr>
        <p:spPr>
          <a:xfrm>
            <a:off x="10533888" y="3986784"/>
            <a:ext cx="402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.96</a:t>
            </a:r>
            <a:endParaRPr lang="en-US" sz="1000" dirty="0"/>
          </a:p>
        </p:txBody>
      </p:sp>
      <p:sp>
        <p:nvSpPr>
          <p:cNvPr id="149" name="Shape 132"/>
          <p:cNvSpPr/>
          <p:nvPr/>
        </p:nvSpPr>
        <p:spPr>
          <a:xfrm>
            <a:off x="8869680" y="4498848"/>
            <a:ext cx="39319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0" name="Shape 133"/>
          <p:cNvSpPr/>
          <p:nvPr/>
        </p:nvSpPr>
        <p:spPr>
          <a:xfrm>
            <a:off x="9363456" y="4352544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51" name="Text 134"/>
          <p:cNvSpPr/>
          <p:nvPr/>
        </p:nvSpPr>
        <p:spPr>
          <a:xfrm>
            <a:off x="9518904" y="4389120"/>
            <a:ext cx="182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200" dirty="0"/>
          </a:p>
        </p:txBody>
      </p:sp>
      <p:sp>
        <p:nvSpPr>
          <p:cNvPr id="152" name="Shape 135"/>
          <p:cNvSpPr/>
          <p:nvPr/>
        </p:nvSpPr>
        <p:spPr>
          <a:xfrm>
            <a:off x="9893808" y="4498848"/>
            <a:ext cx="43891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3" name="Shape 136"/>
          <p:cNvSpPr/>
          <p:nvPr/>
        </p:nvSpPr>
        <p:spPr>
          <a:xfrm>
            <a:off x="10369296" y="4352544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54" name="Text 137"/>
          <p:cNvSpPr/>
          <p:nvPr/>
        </p:nvSpPr>
        <p:spPr>
          <a:xfrm>
            <a:off x="10533888" y="4389120"/>
            <a:ext cx="402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.88</a:t>
            </a:r>
            <a:endParaRPr lang="en-US" sz="1000" dirty="0"/>
          </a:p>
        </p:txBody>
      </p:sp>
      <p:sp>
        <p:nvSpPr>
          <p:cNvPr id="155" name="Shape 138"/>
          <p:cNvSpPr/>
          <p:nvPr/>
        </p:nvSpPr>
        <p:spPr>
          <a:xfrm>
            <a:off x="8869680" y="4901184"/>
            <a:ext cx="39319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6" name="Shape 139"/>
          <p:cNvSpPr/>
          <p:nvPr/>
        </p:nvSpPr>
        <p:spPr>
          <a:xfrm>
            <a:off x="9363456" y="4754880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FFE1D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57" name="Text 140"/>
          <p:cNvSpPr/>
          <p:nvPr/>
        </p:nvSpPr>
        <p:spPr>
          <a:xfrm>
            <a:off x="9518904" y="4791456"/>
            <a:ext cx="182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endParaRPr lang="en-US" sz="1200" dirty="0"/>
          </a:p>
        </p:txBody>
      </p:sp>
      <p:sp>
        <p:nvSpPr>
          <p:cNvPr id="158" name="Shape 141"/>
          <p:cNvSpPr/>
          <p:nvPr/>
        </p:nvSpPr>
        <p:spPr>
          <a:xfrm>
            <a:off x="9893808" y="4901184"/>
            <a:ext cx="43891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9" name="Shape 142"/>
          <p:cNvSpPr/>
          <p:nvPr/>
        </p:nvSpPr>
        <p:spPr>
          <a:xfrm>
            <a:off x="10369296" y="4754880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FFE1DF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60" name="Text 143"/>
          <p:cNvSpPr/>
          <p:nvPr/>
        </p:nvSpPr>
        <p:spPr>
          <a:xfrm>
            <a:off x="10533888" y="4791456"/>
            <a:ext cx="402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.21</a:t>
            </a:r>
            <a:endParaRPr lang="en-US" sz="1000" dirty="0"/>
          </a:p>
        </p:txBody>
      </p:sp>
      <p:sp>
        <p:nvSpPr>
          <p:cNvPr id="161" name="Shape 144"/>
          <p:cNvSpPr/>
          <p:nvPr/>
        </p:nvSpPr>
        <p:spPr>
          <a:xfrm>
            <a:off x="8869680" y="5303520"/>
            <a:ext cx="39319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62" name="Shape 145"/>
          <p:cNvSpPr/>
          <p:nvPr/>
        </p:nvSpPr>
        <p:spPr>
          <a:xfrm>
            <a:off x="9363456" y="5157216"/>
            <a:ext cx="53035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63" name="Text 146"/>
          <p:cNvSpPr/>
          <p:nvPr/>
        </p:nvSpPr>
        <p:spPr>
          <a:xfrm>
            <a:off x="9518904" y="5193792"/>
            <a:ext cx="1828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200" dirty="0"/>
          </a:p>
        </p:txBody>
      </p:sp>
      <p:sp>
        <p:nvSpPr>
          <p:cNvPr id="164" name="Shape 147"/>
          <p:cNvSpPr/>
          <p:nvPr/>
        </p:nvSpPr>
        <p:spPr>
          <a:xfrm>
            <a:off x="9893808" y="5303520"/>
            <a:ext cx="438912" cy="91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65" name="Shape 148"/>
          <p:cNvSpPr/>
          <p:nvPr/>
        </p:nvSpPr>
        <p:spPr>
          <a:xfrm>
            <a:off x="10369296" y="5157216"/>
            <a:ext cx="713232" cy="274320"/>
          </a:xfrm>
          <a:prstGeom prst="roundRect">
            <a:avLst>
              <a:gd name="adj" fmla="val 16667"/>
            </a:avLst>
          </a:prstGeom>
          <a:solidFill>
            <a:srgbClr val="DDF6DF"/>
          </a:solidFill>
          <a:ln w="10160">
            <a:solidFill>
              <a:srgbClr val="62A66C"/>
            </a:solidFill>
            <a:prstDash val="solid"/>
          </a:ln>
        </p:spPr>
      </p:sp>
      <p:sp>
        <p:nvSpPr>
          <p:cNvPr id="166" name="Text 149"/>
          <p:cNvSpPr/>
          <p:nvPr/>
        </p:nvSpPr>
        <p:spPr>
          <a:xfrm>
            <a:off x="10533888" y="5193792"/>
            <a:ext cx="402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.93</a:t>
            </a:r>
            <a:endParaRPr lang="en-US" sz="1000" dirty="0"/>
          </a:p>
        </p:txBody>
      </p:sp>
      <p:sp>
        <p:nvSpPr>
          <p:cNvPr id="167" name="Shape 150"/>
          <p:cNvSpPr/>
          <p:nvPr/>
        </p:nvSpPr>
        <p:spPr>
          <a:xfrm>
            <a:off x="11393424" y="3675888"/>
            <a:ext cx="190195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1430">
            <a:solidFill>
              <a:srgbClr val="3A9552"/>
            </a:solidFill>
            <a:prstDash val="solid"/>
          </a:ln>
        </p:spPr>
      </p:sp>
      <p:sp>
        <p:nvSpPr>
          <p:cNvPr id="168" name="Text 151"/>
          <p:cNvSpPr/>
          <p:nvPr/>
        </p:nvSpPr>
        <p:spPr>
          <a:xfrm>
            <a:off x="11667744" y="3886200"/>
            <a:ext cx="98755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Score(note)=</a:t>
            </a:r>
            <a:endParaRPr lang="en-US" sz="1000" dirty="0"/>
          </a:p>
        </p:txBody>
      </p:sp>
      <p:sp>
        <p:nvSpPr>
          <p:cNvPr id="169" name="Text 152"/>
          <p:cNvSpPr/>
          <p:nvPr/>
        </p:nvSpPr>
        <p:spPr>
          <a:xfrm>
            <a:off x="11686032" y="4096512"/>
            <a:ext cx="2743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</a:t>
            </a:r>
            <a:endParaRPr lang="en-US" sz="2300" dirty="0"/>
          </a:p>
        </p:txBody>
      </p:sp>
      <p:sp>
        <p:nvSpPr>
          <p:cNvPr id="170" name="Text 153"/>
          <p:cNvSpPr/>
          <p:nvPr/>
        </p:nvSpPr>
        <p:spPr>
          <a:xfrm>
            <a:off x="11859768" y="4014216"/>
            <a:ext cx="1645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600" dirty="0"/>
          </a:p>
        </p:txBody>
      </p:sp>
      <p:sp>
        <p:nvSpPr>
          <p:cNvPr id="171" name="Text 154"/>
          <p:cNvSpPr/>
          <p:nvPr/>
        </p:nvSpPr>
        <p:spPr>
          <a:xfrm>
            <a:off x="11777472" y="4407408"/>
            <a:ext cx="25603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i=1</a:t>
            </a:r>
            <a:endParaRPr lang="en-US" sz="600" dirty="0"/>
          </a:p>
        </p:txBody>
      </p:sp>
      <p:sp>
        <p:nvSpPr>
          <p:cNvPr id="172" name="Text 155"/>
          <p:cNvSpPr/>
          <p:nvPr/>
        </p:nvSpPr>
        <p:spPr>
          <a:xfrm>
            <a:off x="12033504" y="418795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pᵢ(+)</a:t>
            </a:r>
            <a:endParaRPr lang="en-US" sz="1350" dirty="0"/>
          </a:p>
        </p:txBody>
      </p:sp>
      <p:sp>
        <p:nvSpPr>
          <p:cNvPr id="173" name="Shape 156"/>
          <p:cNvSpPr/>
          <p:nvPr/>
        </p:nvSpPr>
        <p:spPr>
          <a:xfrm>
            <a:off x="11082528" y="4901184"/>
            <a:ext cx="566928" cy="914"/>
          </a:xfrm>
          <a:prstGeom prst="line">
            <a:avLst/>
          </a:prstGeom>
          <a:noFill/>
          <a:ln w="1143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74" name="Shape 157"/>
          <p:cNvSpPr/>
          <p:nvPr/>
        </p:nvSpPr>
        <p:spPr>
          <a:xfrm>
            <a:off x="11676888" y="4965192"/>
            <a:ext cx="374904" cy="429768"/>
          </a:xfrm>
          <a:prstGeom prst="rect">
            <a:avLst>
              <a:gd name="adj" fmla="val 19512"/>
            </a:avLst>
          </a:prstGeom>
          <a:solidFill>
            <a:srgbClr val="F3F9F3"/>
          </a:solidFill>
          <a:ln w="12700">
            <a:solidFill>
              <a:srgbClr val="F3F9F3"/>
            </a:solidFill>
            <a:prstDash val="solid"/>
          </a:ln>
        </p:spPr>
      </p:sp>
      <p:pic>
        <p:nvPicPr>
          <p:cNvPr id="175" name="Image 15" descr="C:\Users\dididimer\Documents\dimer-ppt\fresh_prm_clinic\assets\warning_triang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76888" y="4965192"/>
            <a:ext cx="374904" cy="429768"/>
          </a:xfrm>
          <a:prstGeom prst="rect">
            <a:avLst/>
          </a:prstGeom>
        </p:spPr>
      </p:pic>
      <p:sp>
        <p:nvSpPr>
          <p:cNvPr id="176" name="Text 158"/>
          <p:cNvSpPr/>
          <p:nvPr/>
        </p:nvSpPr>
        <p:spPr>
          <a:xfrm>
            <a:off x="12124944" y="4956048"/>
            <a:ext cx="7498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定位错误</a:t>
            </a:r>
            <a:endParaRPr lang="en-US" sz="760" dirty="0"/>
          </a:p>
          <a:p>
            <a:pPr algn="ctr" indent="0" marL="0">
              <a:buNone/>
            </a:pPr>
            <a:r>
              <a:rPr lang="en-US" sz="7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Locate error</a:t>
            </a:r>
            <a:endParaRPr lang="en-US" sz="760" dirty="0"/>
          </a:p>
        </p:txBody>
      </p:sp>
      <p:sp>
        <p:nvSpPr>
          <p:cNvPr id="177" name="Text 159"/>
          <p:cNvSpPr/>
          <p:nvPr/>
        </p:nvSpPr>
        <p:spPr>
          <a:xfrm>
            <a:off x="5870448" y="5760720"/>
            <a:ext cx="3200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9A5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(c) Candidate Ranking  多候选排序</a:t>
            </a:r>
            <a:endParaRPr lang="en-US" sz="1280" dirty="0"/>
          </a:p>
        </p:txBody>
      </p:sp>
      <p:sp>
        <p:nvSpPr>
          <p:cNvPr id="178" name="Text 160"/>
          <p:cNvSpPr/>
          <p:nvPr/>
        </p:nvSpPr>
        <p:spPr>
          <a:xfrm>
            <a:off x="5870448" y="6089904"/>
            <a:ext cx="74980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多候选笔记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Candidates</a:t>
            </a:r>
            <a:endParaRPr lang="en-US" sz="850" dirty="0"/>
          </a:p>
        </p:txBody>
      </p:sp>
      <p:sp>
        <p:nvSpPr>
          <p:cNvPr id="179" name="Shape 161"/>
          <p:cNvSpPr/>
          <p:nvPr/>
        </p:nvSpPr>
        <p:spPr>
          <a:xfrm>
            <a:off x="5943600" y="6565392"/>
            <a:ext cx="256032" cy="3108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0" name="Shape 162"/>
          <p:cNvSpPr/>
          <p:nvPr/>
        </p:nvSpPr>
        <p:spPr>
          <a:xfrm>
            <a:off x="5943600" y="6565392"/>
            <a:ext cx="256032" cy="256032"/>
          </a:xfrm>
          <a:prstGeom prst="rtTriangle">
            <a:avLst/>
          </a:prstGeom>
          <a:solidFill>
            <a:srgbClr val="F4F7FB"/>
          </a:solidFill>
          <a:ln w="10160">
            <a:solidFill>
              <a:srgbClr val="2F80ED"/>
            </a:solidFill>
            <a:prstDash val="solid"/>
          </a:ln>
        </p:spPr>
      </p:sp>
      <p:sp>
        <p:nvSpPr>
          <p:cNvPr id="181" name="Shape 163"/>
          <p:cNvSpPr/>
          <p:nvPr/>
        </p:nvSpPr>
        <p:spPr>
          <a:xfrm flipH="1">
            <a:off x="6035040" y="6867144"/>
            <a:ext cx="73152" cy="914"/>
          </a:xfrm>
          <a:prstGeom prst="line">
            <a:avLst/>
          </a:prstGeom>
          <a:noFill/>
          <a:ln w="13970">
            <a:solidFill>
              <a:srgbClr val="2F80ED"/>
            </a:solidFill>
            <a:prstDash val="solid"/>
          </a:ln>
        </p:spPr>
      </p:sp>
      <p:sp>
        <p:nvSpPr>
          <p:cNvPr id="182" name="Shape 164"/>
          <p:cNvSpPr/>
          <p:nvPr/>
        </p:nvSpPr>
        <p:spPr>
          <a:xfrm flipH="1">
            <a:off x="6035040" y="7050024"/>
            <a:ext cx="73152" cy="914"/>
          </a:xfrm>
          <a:prstGeom prst="line">
            <a:avLst/>
          </a:prstGeom>
          <a:noFill/>
          <a:ln w="13970">
            <a:solidFill>
              <a:srgbClr val="2F80ED"/>
            </a:solidFill>
            <a:prstDash val="solid"/>
          </a:ln>
        </p:spPr>
      </p:sp>
      <p:sp>
        <p:nvSpPr>
          <p:cNvPr id="183" name="Shape 165"/>
          <p:cNvSpPr/>
          <p:nvPr/>
        </p:nvSpPr>
        <p:spPr>
          <a:xfrm flipH="1">
            <a:off x="6035040" y="7232904"/>
            <a:ext cx="73152" cy="914"/>
          </a:xfrm>
          <a:prstGeom prst="line">
            <a:avLst/>
          </a:prstGeom>
          <a:noFill/>
          <a:ln w="13970">
            <a:solidFill>
              <a:srgbClr val="2F80ED"/>
            </a:solidFill>
            <a:prstDash val="solid"/>
          </a:ln>
        </p:spPr>
      </p:sp>
      <p:sp>
        <p:nvSpPr>
          <p:cNvPr id="184" name="Shape 166"/>
          <p:cNvSpPr/>
          <p:nvPr/>
        </p:nvSpPr>
        <p:spPr>
          <a:xfrm>
            <a:off x="6382512" y="6565392"/>
            <a:ext cx="256032" cy="3108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5" name="Shape 167"/>
          <p:cNvSpPr/>
          <p:nvPr/>
        </p:nvSpPr>
        <p:spPr>
          <a:xfrm>
            <a:off x="6382512" y="6565392"/>
            <a:ext cx="256032" cy="256032"/>
          </a:xfrm>
          <a:prstGeom prst="rtTriangle">
            <a:avLst/>
          </a:prstGeom>
          <a:solidFill>
            <a:srgbClr val="F4F7FB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86" name="Shape 168"/>
          <p:cNvSpPr/>
          <p:nvPr/>
        </p:nvSpPr>
        <p:spPr>
          <a:xfrm flipH="1">
            <a:off x="6473952" y="6867144"/>
            <a:ext cx="73152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87" name="Shape 169"/>
          <p:cNvSpPr/>
          <p:nvPr/>
        </p:nvSpPr>
        <p:spPr>
          <a:xfrm flipH="1">
            <a:off x="6473952" y="7050024"/>
            <a:ext cx="73152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88" name="Shape 170"/>
          <p:cNvSpPr/>
          <p:nvPr/>
        </p:nvSpPr>
        <p:spPr>
          <a:xfrm flipH="1">
            <a:off x="6473952" y="7232904"/>
            <a:ext cx="73152" cy="914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89" name="Shape 171"/>
          <p:cNvSpPr/>
          <p:nvPr/>
        </p:nvSpPr>
        <p:spPr>
          <a:xfrm>
            <a:off x="5943600" y="7114032"/>
            <a:ext cx="256032" cy="3108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39200"/>
            </a:solidFill>
            <a:prstDash val="solid"/>
          </a:ln>
        </p:spPr>
      </p:sp>
      <p:sp>
        <p:nvSpPr>
          <p:cNvPr id="190" name="Shape 172"/>
          <p:cNvSpPr/>
          <p:nvPr/>
        </p:nvSpPr>
        <p:spPr>
          <a:xfrm>
            <a:off x="5943600" y="7114032"/>
            <a:ext cx="256032" cy="256032"/>
          </a:xfrm>
          <a:prstGeom prst="rtTriangle">
            <a:avLst/>
          </a:prstGeom>
          <a:solidFill>
            <a:srgbClr val="F4F7FB"/>
          </a:solidFill>
          <a:ln w="10160">
            <a:solidFill>
              <a:srgbClr val="E39200"/>
            </a:solidFill>
            <a:prstDash val="solid"/>
          </a:ln>
        </p:spPr>
      </p:sp>
      <p:sp>
        <p:nvSpPr>
          <p:cNvPr id="191" name="Shape 173"/>
          <p:cNvSpPr/>
          <p:nvPr/>
        </p:nvSpPr>
        <p:spPr>
          <a:xfrm flipH="1">
            <a:off x="6035040" y="7415784"/>
            <a:ext cx="73152" cy="914"/>
          </a:xfrm>
          <a:prstGeom prst="line">
            <a:avLst/>
          </a:prstGeom>
          <a:noFill/>
          <a:ln w="13970">
            <a:solidFill>
              <a:srgbClr val="E39200"/>
            </a:solidFill>
            <a:prstDash val="solid"/>
          </a:ln>
        </p:spPr>
      </p:sp>
      <p:sp>
        <p:nvSpPr>
          <p:cNvPr id="192" name="Shape 174"/>
          <p:cNvSpPr/>
          <p:nvPr/>
        </p:nvSpPr>
        <p:spPr>
          <a:xfrm flipH="1">
            <a:off x="6035040" y="7598664"/>
            <a:ext cx="73152" cy="914"/>
          </a:xfrm>
          <a:prstGeom prst="line">
            <a:avLst/>
          </a:prstGeom>
          <a:noFill/>
          <a:ln w="13970">
            <a:solidFill>
              <a:srgbClr val="E39200"/>
            </a:solidFill>
            <a:prstDash val="solid"/>
          </a:ln>
        </p:spPr>
      </p:sp>
      <p:sp>
        <p:nvSpPr>
          <p:cNvPr id="193" name="Shape 175"/>
          <p:cNvSpPr/>
          <p:nvPr/>
        </p:nvSpPr>
        <p:spPr>
          <a:xfrm flipH="1">
            <a:off x="6035040" y="7781544"/>
            <a:ext cx="73152" cy="914"/>
          </a:xfrm>
          <a:prstGeom prst="line">
            <a:avLst/>
          </a:prstGeom>
          <a:noFill/>
          <a:ln w="13970">
            <a:solidFill>
              <a:srgbClr val="E39200"/>
            </a:solidFill>
            <a:prstDash val="solid"/>
          </a:ln>
        </p:spPr>
      </p:sp>
      <p:sp>
        <p:nvSpPr>
          <p:cNvPr id="194" name="Shape 176"/>
          <p:cNvSpPr/>
          <p:nvPr/>
        </p:nvSpPr>
        <p:spPr>
          <a:xfrm>
            <a:off x="6382512" y="7114032"/>
            <a:ext cx="256032" cy="3108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5" name="Shape 177"/>
          <p:cNvSpPr/>
          <p:nvPr/>
        </p:nvSpPr>
        <p:spPr>
          <a:xfrm>
            <a:off x="6382512" y="7114032"/>
            <a:ext cx="256032" cy="256032"/>
          </a:xfrm>
          <a:prstGeom prst="rtTriangle">
            <a:avLst/>
          </a:prstGeom>
          <a:solidFill>
            <a:srgbClr val="F4F7FB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96" name="Shape 178"/>
          <p:cNvSpPr/>
          <p:nvPr/>
        </p:nvSpPr>
        <p:spPr>
          <a:xfrm flipH="1">
            <a:off x="6473952" y="7415784"/>
            <a:ext cx="73152" cy="91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197" name="Shape 179"/>
          <p:cNvSpPr/>
          <p:nvPr/>
        </p:nvSpPr>
        <p:spPr>
          <a:xfrm flipH="1">
            <a:off x="6473952" y="7598664"/>
            <a:ext cx="73152" cy="91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198" name="Shape 180"/>
          <p:cNvSpPr/>
          <p:nvPr/>
        </p:nvSpPr>
        <p:spPr>
          <a:xfrm flipH="1">
            <a:off x="6473952" y="7781544"/>
            <a:ext cx="73152" cy="914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</a:ln>
        </p:spPr>
      </p:sp>
      <p:sp>
        <p:nvSpPr>
          <p:cNvPr id="199" name="Text 181"/>
          <p:cNvSpPr/>
          <p:nvPr/>
        </p:nvSpPr>
        <p:spPr>
          <a:xfrm>
            <a:off x="6236208" y="7296912"/>
            <a:ext cx="1645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⋮</a:t>
            </a:r>
            <a:endParaRPr lang="en-US" sz="1100" dirty="0"/>
          </a:p>
        </p:txBody>
      </p:sp>
      <p:sp>
        <p:nvSpPr>
          <p:cNvPr id="200" name="Shape 182"/>
          <p:cNvSpPr/>
          <p:nvPr/>
        </p:nvSpPr>
        <p:spPr>
          <a:xfrm>
            <a:off x="6803136" y="6675120"/>
            <a:ext cx="384048" cy="201168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01" name="Shape 183"/>
          <p:cNvSpPr/>
          <p:nvPr/>
        </p:nvSpPr>
        <p:spPr>
          <a:xfrm>
            <a:off x="7223760" y="6035040"/>
            <a:ext cx="2679192" cy="1380744"/>
          </a:xfrm>
          <a:prstGeom prst="roundRect">
            <a:avLst>
              <a:gd name="adj" fmla="val 6623"/>
            </a:avLst>
          </a:prstGeom>
          <a:solidFill>
            <a:srgbClr val="FFFDF6"/>
          </a:solidFill>
          <a:ln w="11430">
            <a:solidFill>
              <a:srgbClr val="E39200"/>
            </a:solidFill>
            <a:prstDash val="solid"/>
          </a:ln>
        </p:spPr>
      </p:sp>
      <p:sp>
        <p:nvSpPr>
          <p:cNvPr id="202" name="Text 184"/>
          <p:cNvSpPr/>
          <p:nvPr/>
        </p:nvSpPr>
        <p:spPr>
          <a:xfrm>
            <a:off x="7662672" y="6144768"/>
            <a:ext cx="170078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Best-of-N reranking</a:t>
            </a:r>
            <a:endParaRPr lang="en-US" sz="1000" dirty="0"/>
          </a:p>
        </p:txBody>
      </p:sp>
      <p:sp>
        <p:nvSpPr>
          <p:cNvPr id="203" name="Text 185"/>
          <p:cNvSpPr/>
          <p:nvPr/>
        </p:nvSpPr>
        <p:spPr>
          <a:xfrm>
            <a:off x="7955280" y="6437376"/>
            <a:ext cx="153619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   Step 2       ...    Step m</a:t>
            </a:r>
            <a:endParaRPr lang="en-US" sz="560" dirty="0"/>
          </a:p>
        </p:txBody>
      </p:sp>
      <p:sp>
        <p:nvSpPr>
          <p:cNvPr id="204" name="Text 186"/>
          <p:cNvSpPr/>
          <p:nvPr/>
        </p:nvSpPr>
        <p:spPr>
          <a:xfrm>
            <a:off x="7388352" y="6638544"/>
            <a:ext cx="502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A</a:t>
            </a:r>
            <a:endParaRPr lang="en-US" sz="640" dirty="0"/>
          </a:p>
        </p:txBody>
      </p:sp>
      <p:sp>
        <p:nvSpPr>
          <p:cNvPr id="205" name="Text 187"/>
          <p:cNvSpPr/>
          <p:nvPr/>
        </p:nvSpPr>
        <p:spPr>
          <a:xfrm>
            <a:off x="7388352" y="6931152"/>
            <a:ext cx="502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B</a:t>
            </a:r>
            <a:endParaRPr lang="en-US" sz="640" dirty="0"/>
          </a:p>
        </p:txBody>
      </p:sp>
      <p:sp>
        <p:nvSpPr>
          <p:cNvPr id="206" name="Text 188"/>
          <p:cNvSpPr/>
          <p:nvPr/>
        </p:nvSpPr>
        <p:spPr>
          <a:xfrm>
            <a:off x="7388352" y="7223760"/>
            <a:ext cx="502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C</a:t>
            </a:r>
            <a:endParaRPr lang="en-US" sz="640" dirty="0"/>
          </a:p>
        </p:txBody>
      </p:sp>
      <p:sp>
        <p:nvSpPr>
          <p:cNvPr id="207" name="Shape 189"/>
          <p:cNvSpPr/>
          <p:nvPr/>
        </p:nvSpPr>
        <p:spPr>
          <a:xfrm>
            <a:off x="7936992" y="6601968"/>
            <a:ext cx="411480" cy="256032"/>
          </a:xfrm>
          <a:prstGeom prst="rect">
            <a:avLst>
              <a:gd name="adj" fmla="val 28571"/>
            </a:avLst>
          </a:prstGeom>
          <a:solidFill>
            <a:srgbClr val="6CBF7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8" name="Shape 190"/>
          <p:cNvSpPr/>
          <p:nvPr/>
        </p:nvSpPr>
        <p:spPr>
          <a:xfrm>
            <a:off x="8375904" y="6601968"/>
            <a:ext cx="411480" cy="256032"/>
          </a:xfrm>
          <a:prstGeom prst="rect">
            <a:avLst>
              <a:gd name="adj" fmla="val 28571"/>
            </a:avLst>
          </a:prstGeom>
          <a:solidFill>
            <a:srgbClr val="88C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9" name="Shape 191"/>
          <p:cNvSpPr/>
          <p:nvPr/>
        </p:nvSpPr>
        <p:spPr>
          <a:xfrm>
            <a:off x="8814816" y="6601968"/>
            <a:ext cx="411480" cy="256032"/>
          </a:xfrm>
          <a:prstGeom prst="rect">
            <a:avLst>
              <a:gd name="adj" fmla="val 28571"/>
            </a:avLst>
          </a:prstGeom>
          <a:solidFill>
            <a:srgbClr val="BCE4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0" name="Shape 192"/>
          <p:cNvSpPr/>
          <p:nvPr/>
        </p:nvSpPr>
        <p:spPr>
          <a:xfrm>
            <a:off x="9253728" y="6601968"/>
            <a:ext cx="411480" cy="256032"/>
          </a:xfrm>
          <a:prstGeom prst="rect">
            <a:avLst>
              <a:gd name="adj" fmla="val 28571"/>
            </a:avLst>
          </a:prstGeom>
          <a:solidFill>
            <a:srgbClr val="A6D89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1" name="Shape 193"/>
          <p:cNvSpPr/>
          <p:nvPr/>
        </p:nvSpPr>
        <p:spPr>
          <a:xfrm>
            <a:off x="7936992" y="6894576"/>
            <a:ext cx="411480" cy="256032"/>
          </a:xfrm>
          <a:prstGeom prst="rect">
            <a:avLst>
              <a:gd name="adj" fmla="val 28571"/>
            </a:avLst>
          </a:prstGeom>
          <a:solidFill>
            <a:srgbClr val="87CB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2" name="Shape 194"/>
          <p:cNvSpPr/>
          <p:nvPr/>
        </p:nvSpPr>
        <p:spPr>
          <a:xfrm>
            <a:off x="8375904" y="6894576"/>
            <a:ext cx="411480" cy="256032"/>
          </a:xfrm>
          <a:prstGeom prst="rect">
            <a:avLst>
              <a:gd name="adj" fmla="val 28571"/>
            </a:avLst>
          </a:prstGeom>
          <a:solidFill>
            <a:srgbClr val="FFE3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3" name="Shape 195"/>
          <p:cNvSpPr/>
          <p:nvPr/>
        </p:nvSpPr>
        <p:spPr>
          <a:xfrm>
            <a:off x="8814816" y="6894576"/>
            <a:ext cx="411480" cy="256032"/>
          </a:xfrm>
          <a:prstGeom prst="rect">
            <a:avLst>
              <a:gd name="adj" fmla="val 28571"/>
            </a:avLst>
          </a:prstGeom>
          <a:solidFill>
            <a:srgbClr val="FFE3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4" name="Shape 196"/>
          <p:cNvSpPr/>
          <p:nvPr/>
        </p:nvSpPr>
        <p:spPr>
          <a:xfrm>
            <a:off x="9253728" y="6894576"/>
            <a:ext cx="411480" cy="256032"/>
          </a:xfrm>
          <a:prstGeom prst="rect">
            <a:avLst>
              <a:gd name="adj" fmla="val 28571"/>
            </a:avLst>
          </a:prstGeom>
          <a:solidFill>
            <a:srgbClr val="FFE3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5" name="Shape 197"/>
          <p:cNvSpPr/>
          <p:nvPr/>
        </p:nvSpPr>
        <p:spPr>
          <a:xfrm>
            <a:off x="7936992" y="7187184"/>
            <a:ext cx="411480" cy="256032"/>
          </a:xfrm>
          <a:prstGeom prst="rect">
            <a:avLst>
              <a:gd name="adj" fmla="val 28571"/>
            </a:avLst>
          </a:prstGeom>
          <a:solidFill>
            <a:srgbClr val="F3717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6" name="Shape 198"/>
          <p:cNvSpPr/>
          <p:nvPr/>
        </p:nvSpPr>
        <p:spPr>
          <a:xfrm>
            <a:off x="8375904" y="7187184"/>
            <a:ext cx="411480" cy="256032"/>
          </a:xfrm>
          <a:prstGeom prst="rect">
            <a:avLst>
              <a:gd name="adj" fmla="val 28571"/>
            </a:avLst>
          </a:prstGeom>
          <a:solidFill>
            <a:srgbClr val="F47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7" name="Shape 199"/>
          <p:cNvSpPr/>
          <p:nvPr/>
        </p:nvSpPr>
        <p:spPr>
          <a:xfrm>
            <a:off x="8814816" y="7187184"/>
            <a:ext cx="411480" cy="256032"/>
          </a:xfrm>
          <a:prstGeom prst="rect">
            <a:avLst>
              <a:gd name="adj" fmla="val 28571"/>
            </a:avLst>
          </a:prstGeom>
          <a:solidFill>
            <a:srgbClr val="F47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8" name="Shape 200"/>
          <p:cNvSpPr/>
          <p:nvPr/>
        </p:nvSpPr>
        <p:spPr>
          <a:xfrm>
            <a:off x="9253728" y="7187184"/>
            <a:ext cx="411480" cy="256032"/>
          </a:xfrm>
          <a:prstGeom prst="rect">
            <a:avLst>
              <a:gd name="adj" fmla="val 28571"/>
            </a:avLst>
          </a:prstGeom>
          <a:solidFill>
            <a:srgbClr val="F47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9" name="Shape 201"/>
          <p:cNvSpPr/>
          <p:nvPr/>
        </p:nvSpPr>
        <p:spPr>
          <a:xfrm>
            <a:off x="10021824" y="6665976"/>
            <a:ext cx="402336" cy="201168"/>
          </a:xfrm>
          <a:prstGeom prst="rightArrow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20" name="Shape 202"/>
          <p:cNvSpPr/>
          <p:nvPr/>
        </p:nvSpPr>
        <p:spPr>
          <a:xfrm>
            <a:off x="10625328" y="6876288"/>
            <a:ext cx="713232" cy="347472"/>
          </a:xfrm>
          <a:prstGeom prst="rect">
            <a:avLst>
              <a:gd name="adj" fmla="val 21053"/>
            </a:avLst>
          </a:prstGeom>
          <a:solidFill>
            <a:srgbClr val="FFE8A8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1" name="Shape 203"/>
          <p:cNvSpPr/>
          <p:nvPr/>
        </p:nvSpPr>
        <p:spPr>
          <a:xfrm>
            <a:off x="11292840" y="6419088"/>
            <a:ext cx="987552" cy="804672"/>
          </a:xfrm>
          <a:prstGeom prst="rect">
            <a:avLst>
              <a:gd name="adj" fmla="val 9091"/>
            </a:avLst>
          </a:prstGeom>
          <a:solidFill>
            <a:srgbClr val="5DADE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2" name="Shape 204"/>
          <p:cNvSpPr/>
          <p:nvPr/>
        </p:nvSpPr>
        <p:spPr>
          <a:xfrm>
            <a:off x="12600432" y="6986016"/>
            <a:ext cx="640080" cy="237744"/>
          </a:xfrm>
          <a:prstGeom prst="rect">
            <a:avLst>
              <a:gd name="adj" fmla="val 30769"/>
            </a:avLst>
          </a:prstGeom>
          <a:solidFill>
            <a:srgbClr val="F28E95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3" name="Shape 205"/>
          <p:cNvSpPr/>
          <p:nvPr/>
        </p:nvSpPr>
        <p:spPr>
          <a:xfrm>
            <a:off x="11338560" y="6693408"/>
            <a:ext cx="932688" cy="237744"/>
          </a:xfrm>
          <a:prstGeom prst="trapezoid">
            <a:avLst/>
          </a:prstGeom>
          <a:solidFill>
            <a:srgbClr val="79BDE8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4" name="Text 206"/>
          <p:cNvSpPr/>
          <p:nvPr/>
        </p:nvSpPr>
        <p:spPr>
          <a:xfrm>
            <a:off x="10826496" y="6903720"/>
            <a:ext cx="2560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225" name="Text 207"/>
          <p:cNvSpPr/>
          <p:nvPr/>
        </p:nvSpPr>
        <p:spPr>
          <a:xfrm>
            <a:off x="11768328" y="6812280"/>
            <a:ext cx="25603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226" name="Text 208"/>
          <p:cNvSpPr/>
          <p:nvPr/>
        </p:nvSpPr>
        <p:spPr>
          <a:xfrm>
            <a:off x="12874752" y="7013448"/>
            <a:ext cx="228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27" name="Text 209"/>
          <p:cNvSpPr/>
          <p:nvPr/>
        </p:nvSpPr>
        <p:spPr>
          <a:xfrm>
            <a:off x="10735056" y="6190488"/>
            <a:ext cx="56692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B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B</a:t>
            </a:r>
            <a:endParaRPr lang="en-US" sz="750" dirty="0"/>
          </a:p>
        </p:txBody>
      </p:sp>
      <p:sp>
        <p:nvSpPr>
          <p:cNvPr id="228" name="Text 210"/>
          <p:cNvSpPr/>
          <p:nvPr/>
        </p:nvSpPr>
        <p:spPr>
          <a:xfrm>
            <a:off x="11640312" y="5788152"/>
            <a:ext cx="56692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A</a:t>
            </a:r>
            <a:endParaRPr lang="en-US" sz="750" dirty="0"/>
          </a:p>
        </p:txBody>
      </p:sp>
      <p:sp>
        <p:nvSpPr>
          <p:cNvPr id="229" name="Text 211"/>
          <p:cNvSpPr/>
          <p:nvPr/>
        </p:nvSpPr>
        <p:spPr>
          <a:xfrm>
            <a:off x="12618720" y="6318504"/>
            <a:ext cx="56692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 C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Cand. C</a:t>
            </a:r>
            <a:endParaRPr lang="en-US" sz="750" dirty="0"/>
          </a:p>
        </p:txBody>
      </p:sp>
      <p:sp>
        <p:nvSpPr>
          <p:cNvPr id="230" name="Shape 212"/>
          <p:cNvSpPr/>
          <p:nvPr/>
        </p:nvSpPr>
        <p:spPr>
          <a:xfrm>
            <a:off x="11612880" y="6035040"/>
            <a:ext cx="566928" cy="530352"/>
          </a:xfrm>
          <a:prstGeom prst="rect">
            <a:avLst>
              <a:gd name="adj" fmla="val 13793"/>
            </a:avLst>
          </a:prstGeom>
          <a:solidFill>
            <a:srgbClr val="FEFAEC"/>
          </a:solidFill>
          <a:ln w="12700">
            <a:solidFill>
              <a:srgbClr val="FEFAEC"/>
            </a:solidFill>
            <a:prstDash val="solid"/>
          </a:ln>
        </p:spPr>
      </p:sp>
      <p:pic>
        <p:nvPicPr>
          <p:cNvPr id="231" name="Image 16" descr="C:\Users\dididimer\Documents\dimer-ppt\fresh_prm_clinic\assets\troph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612880" y="6035040"/>
            <a:ext cx="566928" cy="530352"/>
          </a:xfrm>
          <a:prstGeom prst="rect">
            <a:avLst/>
          </a:prstGeom>
        </p:spPr>
      </p:pic>
      <p:sp>
        <p:nvSpPr>
          <p:cNvPr id="232" name="Text 213"/>
          <p:cNvSpPr/>
          <p:nvPr/>
        </p:nvSpPr>
        <p:spPr>
          <a:xfrm>
            <a:off x="384048" y="7680960"/>
            <a:ext cx="2286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6A4C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PRM vs ORM  核心差异</a:t>
            </a:r>
            <a:endParaRPr lang="en-US" sz="1350" dirty="0"/>
          </a:p>
        </p:txBody>
      </p:sp>
      <p:sp>
        <p:nvSpPr>
          <p:cNvPr id="233" name="Shape 214"/>
          <p:cNvSpPr/>
          <p:nvPr/>
        </p:nvSpPr>
        <p:spPr>
          <a:xfrm>
            <a:off x="384048" y="7973568"/>
            <a:ext cx="29718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1430">
            <a:solidFill>
              <a:srgbClr val="A17CC6"/>
            </a:solidFill>
            <a:prstDash val="solid"/>
          </a:ln>
        </p:spPr>
      </p:sp>
      <p:sp>
        <p:nvSpPr>
          <p:cNvPr id="234" name="Shape 215"/>
          <p:cNvSpPr/>
          <p:nvPr/>
        </p:nvSpPr>
        <p:spPr>
          <a:xfrm>
            <a:off x="493776" y="8156448"/>
            <a:ext cx="438912" cy="402336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5" name="Image 17" descr="C:\Users\dididimer\Documents\dimer-ppt\fresh_prm_clinic\assets\small_robo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3776" y="8156448"/>
            <a:ext cx="438912" cy="402336"/>
          </a:xfrm>
          <a:prstGeom prst="rect">
            <a:avLst/>
          </a:prstGeom>
        </p:spPr>
      </p:pic>
      <p:sp>
        <p:nvSpPr>
          <p:cNvPr id="236" name="Text 216"/>
          <p:cNvSpPr/>
          <p:nvPr/>
        </p:nvSpPr>
        <p:spPr>
          <a:xfrm>
            <a:off x="1152144" y="8101584"/>
            <a:ext cx="1143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ORM</a:t>
            </a:r>
            <a:endParaRPr lang="en-US" sz="920" dirty="0"/>
          </a:p>
          <a:p>
            <a:pPr algn="l" indent="0" marL="0">
              <a:buNone/>
            </a:pPr>
            <a:r>
              <a:rPr lang="en-US" sz="92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(outcome-only)</a:t>
            </a:r>
            <a:endParaRPr lang="en-US" sz="920" dirty="0"/>
          </a:p>
        </p:txBody>
      </p:sp>
      <p:sp>
        <p:nvSpPr>
          <p:cNvPr id="237" name="Shape 217"/>
          <p:cNvSpPr/>
          <p:nvPr/>
        </p:nvSpPr>
        <p:spPr>
          <a:xfrm>
            <a:off x="2322576" y="8348472"/>
            <a:ext cx="292608" cy="201168"/>
          </a:xfrm>
          <a:prstGeom prst="rightArrow">
            <a:avLst/>
          </a:prstGeom>
          <a:solidFill>
            <a:srgbClr val="102A63"/>
          </a:solidFill>
          <a:ln w="12700">
            <a:solidFill>
              <a:srgbClr val="102A63">
                <a:alpha val="0"/>
              </a:srgbClr>
            </a:solidFill>
            <a:prstDash val="solid"/>
          </a:ln>
        </p:spPr>
      </p:sp>
      <p:sp>
        <p:nvSpPr>
          <p:cNvPr id="238" name="Shape 218"/>
          <p:cNvSpPr/>
          <p:nvPr/>
        </p:nvSpPr>
        <p:spPr>
          <a:xfrm>
            <a:off x="2651760" y="8211312"/>
            <a:ext cx="502920" cy="347472"/>
          </a:xfrm>
          <a:prstGeom prst="roundRect">
            <a:avLst>
              <a:gd name="adj" fmla="val 10526"/>
            </a:avLst>
          </a:prstGeom>
          <a:solidFill>
            <a:srgbClr val="FFF1BA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39" name="Text 219"/>
          <p:cNvSpPr/>
          <p:nvPr/>
        </p:nvSpPr>
        <p:spPr>
          <a:xfrm>
            <a:off x="2734056" y="8275320"/>
            <a:ext cx="3291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5.2</a:t>
            </a:r>
            <a:endParaRPr lang="en-US" sz="1000" dirty="0"/>
          </a:p>
        </p:txBody>
      </p:sp>
      <p:sp>
        <p:nvSpPr>
          <p:cNvPr id="240" name="Shape 220"/>
          <p:cNvSpPr/>
          <p:nvPr/>
        </p:nvSpPr>
        <p:spPr>
          <a:xfrm>
            <a:off x="1152144" y="8668512"/>
            <a:ext cx="126187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0160">
            <a:solidFill>
              <a:srgbClr val="A17CC6"/>
            </a:solidFill>
            <a:prstDash val="solid"/>
          </a:ln>
        </p:spPr>
      </p:sp>
      <p:sp>
        <p:nvSpPr>
          <p:cNvPr id="241" name="Text 221"/>
          <p:cNvSpPr/>
          <p:nvPr/>
        </p:nvSpPr>
        <p:spPr>
          <a:xfrm>
            <a:off x="1298448" y="8705088"/>
            <a:ext cx="960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只看最终答案</a:t>
            </a:r>
            <a:endParaRPr lang="en-US" sz="840" dirty="0"/>
          </a:p>
        </p:txBody>
      </p:sp>
      <p:sp>
        <p:nvSpPr>
          <p:cNvPr id="242" name="Shape 222"/>
          <p:cNvSpPr/>
          <p:nvPr/>
        </p:nvSpPr>
        <p:spPr>
          <a:xfrm>
            <a:off x="3429000" y="8028432"/>
            <a:ext cx="640080" cy="640080"/>
          </a:xfrm>
          <a:prstGeom prst="ellipse">
            <a:avLst/>
          </a:prstGeom>
          <a:solidFill>
            <a:srgbClr val="B899D6"/>
          </a:solidFill>
          <a:ln w="12700">
            <a:solidFill>
              <a:srgbClr val="B899D6"/>
            </a:solidFill>
            <a:prstDash val="solid"/>
          </a:ln>
        </p:spPr>
      </p:sp>
      <p:sp>
        <p:nvSpPr>
          <p:cNvPr id="243" name="Text 223"/>
          <p:cNvSpPr/>
          <p:nvPr/>
        </p:nvSpPr>
        <p:spPr>
          <a:xfrm>
            <a:off x="3547872" y="8174736"/>
            <a:ext cx="4114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</a:t>
            </a:r>
            <a:endParaRPr lang="en-US" sz="1500" dirty="0"/>
          </a:p>
        </p:txBody>
      </p:sp>
      <p:sp>
        <p:nvSpPr>
          <p:cNvPr id="244" name="Shape 224"/>
          <p:cNvSpPr/>
          <p:nvPr/>
        </p:nvSpPr>
        <p:spPr>
          <a:xfrm>
            <a:off x="3913632" y="7754112"/>
            <a:ext cx="342900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1430">
            <a:solidFill>
              <a:srgbClr val="A17CC6"/>
            </a:solidFill>
            <a:prstDash val="solid"/>
          </a:ln>
        </p:spPr>
      </p:sp>
      <p:sp>
        <p:nvSpPr>
          <p:cNvPr id="245" name="Text 225"/>
          <p:cNvSpPr/>
          <p:nvPr/>
        </p:nvSpPr>
        <p:spPr>
          <a:xfrm>
            <a:off x="4462272" y="7900416"/>
            <a:ext cx="213969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PRM  (process-aware)</a:t>
            </a:r>
            <a:endParaRPr lang="en-US" sz="980" dirty="0"/>
          </a:p>
        </p:txBody>
      </p:sp>
      <p:sp>
        <p:nvSpPr>
          <p:cNvPr id="246" name="Shape 226"/>
          <p:cNvSpPr/>
          <p:nvPr/>
        </p:nvSpPr>
        <p:spPr>
          <a:xfrm>
            <a:off x="4187952" y="8156448"/>
            <a:ext cx="438912" cy="402336"/>
          </a:xfrm>
          <a:prstGeom prst="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7" name="Image 18" descr="C:\Users\dididimer\Documents\dimer-ppt\fresh_prm_clinic\assets\small_robo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87952" y="8156448"/>
            <a:ext cx="438912" cy="402336"/>
          </a:xfrm>
          <a:prstGeom prst="rect">
            <a:avLst/>
          </a:prstGeom>
        </p:spPr>
      </p:pic>
      <p:sp>
        <p:nvSpPr>
          <p:cNvPr id="248" name="Shape 227"/>
          <p:cNvSpPr/>
          <p:nvPr/>
        </p:nvSpPr>
        <p:spPr>
          <a:xfrm>
            <a:off x="4736592" y="8348472"/>
            <a:ext cx="256032" cy="201168"/>
          </a:xfrm>
          <a:prstGeom prst="rightArrow">
            <a:avLst/>
          </a:prstGeom>
          <a:solidFill>
            <a:srgbClr val="102A63"/>
          </a:solidFill>
          <a:ln w="12700">
            <a:solidFill>
              <a:srgbClr val="102A63">
                <a:alpha val="0"/>
              </a:srgbClr>
            </a:solidFill>
            <a:prstDash val="solid"/>
          </a:ln>
        </p:spPr>
      </p:sp>
      <p:sp>
        <p:nvSpPr>
          <p:cNvPr id="249" name="Shape 228"/>
          <p:cNvSpPr/>
          <p:nvPr/>
        </p:nvSpPr>
        <p:spPr>
          <a:xfrm>
            <a:off x="5001768" y="8211312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DDF6DF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250" name="Text 229"/>
          <p:cNvSpPr/>
          <p:nvPr/>
        </p:nvSpPr>
        <p:spPr>
          <a:xfrm>
            <a:off x="5074920" y="8247888"/>
            <a:ext cx="1645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000" dirty="0"/>
          </a:p>
        </p:txBody>
      </p:sp>
      <p:sp>
        <p:nvSpPr>
          <p:cNvPr id="251" name="Shape 230"/>
          <p:cNvSpPr/>
          <p:nvPr/>
        </p:nvSpPr>
        <p:spPr>
          <a:xfrm>
            <a:off x="5550408" y="8211312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DDF6DF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252" name="Text 231"/>
          <p:cNvSpPr/>
          <p:nvPr/>
        </p:nvSpPr>
        <p:spPr>
          <a:xfrm>
            <a:off x="5623560" y="8247888"/>
            <a:ext cx="1645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000" dirty="0"/>
          </a:p>
        </p:txBody>
      </p:sp>
      <p:sp>
        <p:nvSpPr>
          <p:cNvPr id="253" name="Shape 232"/>
          <p:cNvSpPr/>
          <p:nvPr/>
        </p:nvSpPr>
        <p:spPr>
          <a:xfrm>
            <a:off x="6099048" y="8211312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FFE1DF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254" name="Text 233"/>
          <p:cNvSpPr/>
          <p:nvPr/>
        </p:nvSpPr>
        <p:spPr>
          <a:xfrm>
            <a:off x="6172200" y="8247888"/>
            <a:ext cx="1645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</a:t>
            </a:r>
            <a:endParaRPr lang="en-US" sz="1000" dirty="0"/>
          </a:p>
        </p:txBody>
      </p:sp>
      <p:sp>
        <p:nvSpPr>
          <p:cNvPr id="255" name="Shape 234"/>
          <p:cNvSpPr/>
          <p:nvPr/>
        </p:nvSpPr>
        <p:spPr>
          <a:xfrm>
            <a:off x="6647688" y="8211312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DDF6DF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256" name="Text 235"/>
          <p:cNvSpPr/>
          <p:nvPr/>
        </p:nvSpPr>
        <p:spPr>
          <a:xfrm>
            <a:off x="6720840" y="8247888"/>
            <a:ext cx="1645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1000" dirty="0"/>
          </a:p>
        </p:txBody>
      </p:sp>
      <p:sp>
        <p:nvSpPr>
          <p:cNvPr id="257" name="Text 236"/>
          <p:cNvSpPr/>
          <p:nvPr/>
        </p:nvSpPr>
        <p:spPr>
          <a:xfrm>
            <a:off x="6035040" y="8275320"/>
            <a:ext cx="228600" cy="100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...</a:t>
            </a:r>
            <a:endParaRPr lang="en-US" sz="1000" dirty="0"/>
          </a:p>
        </p:txBody>
      </p:sp>
      <p:sp>
        <p:nvSpPr>
          <p:cNvPr id="258" name="Shape 237"/>
          <p:cNvSpPr/>
          <p:nvPr/>
        </p:nvSpPr>
        <p:spPr>
          <a:xfrm>
            <a:off x="4736592" y="86685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0160">
            <a:solidFill>
              <a:srgbClr val="A17CC6"/>
            </a:solidFill>
            <a:prstDash val="solid"/>
          </a:ln>
        </p:spPr>
      </p:sp>
      <p:sp>
        <p:nvSpPr>
          <p:cNvPr id="259" name="Text 238"/>
          <p:cNvSpPr/>
          <p:nvPr/>
        </p:nvSpPr>
        <p:spPr>
          <a:xfrm>
            <a:off x="4992624" y="8705088"/>
            <a:ext cx="1463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0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看见每一步错误</a:t>
            </a:r>
            <a:endParaRPr lang="en-US" sz="840" dirty="0"/>
          </a:p>
        </p:txBody>
      </p:sp>
      <p:sp>
        <p:nvSpPr>
          <p:cNvPr id="260" name="Shape 239"/>
          <p:cNvSpPr/>
          <p:nvPr/>
        </p:nvSpPr>
        <p:spPr>
          <a:xfrm>
            <a:off x="7699248" y="7699248"/>
            <a:ext cx="914" cy="1133856"/>
          </a:xfrm>
          <a:prstGeom prst="line">
            <a:avLst/>
          </a:prstGeom>
          <a:noFill/>
          <a:ln w="10160">
            <a:solidFill>
              <a:srgbClr val="6A4C93"/>
            </a:solidFill>
            <a:prstDash val="solid"/>
          </a:ln>
        </p:spPr>
      </p:sp>
      <p:sp>
        <p:nvSpPr>
          <p:cNvPr id="261" name="Shape 240"/>
          <p:cNvSpPr/>
          <p:nvPr/>
        </p:nvSpPr>
        <p:spPr>
          <a:xfrm>
            <a:off x="8001000" y="7772400"/>
            <a:ext cx="1463040" cy="932688"/>
          </a:xfrm>
          <a:prstGeom prst="roundRect">
            <a:avLst>
              <a:gd name="adj" fmla="val 7843"/>
            </a:avLst>
          </a:prstGeom>
          <a:solidFill>
            <a:srgbClr val="F3F8FF"/>
          </a:solidFill>
          <a:ln w="11430">
            <a:solidFill>
              <a:srgbClr val="3A86C8"/>
            </a:solidFill>
            <a:prstDash val="solid"/>
          </a:ln>
        </p:spPr>
      </p:sp>
      <p:sp>
        <p:nvSpPr>
          <p:cNvPr id="262" name="Shape 241"/>
          <p:cNvSpPr/>
          <p:nvPr/>
        </p:nvSpPr>
        <p:spPr>
          <a:xfrm>
            <a:off x="8193024" y="7936992"/>
            <a:ext cx="384048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3" name="Image 19" descr="C:\Users\dididimer\Documents\dimer-ppt\fresh_prm_clinic\assets\metric_shiel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93024" y="7936992"/>
            <a:ext cx="384048" cy="384048"/>
          </a:xfrm>
          <a:prstGeom prst="rect">
            <a:avLst/>
          </a:prstGeom>
        </p:spPr>
      </p:pic>
      <p:sp>
        <p:nvSpPr>
          <p:cNvPr id="264" name="Text 242"/>
          <p:cNvSpPr/>
          <p:nvPr/>
        </p:nvSpPr>
        <p:spPr>
          <a:xfrm>
            <a:off x="8705088" y="7955280"/>
            <a:ext cx="5303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更强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A-Verify</a:t>
            </a:r>
            <a:endParaRPr lang="en-US" sz="820" dirty="0"/>
          </a:p>
        </p:txBody>
      </p:sp>
      <p:sp>
        <p:nvSpPr>
          <p:cNvPr id="265" name="Text 243"/>
          <p:cNvSpPr/>
          <p:nvPr/>
        </p:nvSpPr>
        <p:spPr>
          <a:xfrm>
            <a:off x="8458200" y="8412480"/>
            <a:ext cx="4754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98.8</a:t>
            </a:r>
            <a:endParaRPr lang="en-US" sz="1400" dirty="0"/>
          </a:p>
        </p:txBody>
      </p:sp>
      <p:sp>
        <p:nvSpPr>
          <p:cNvPr id="266" name="Text 244"/>
          <p:cNvSpPr/>
          <p:nvPr/>
        </p:nvSpPr>
        <p:spPr>
          <a:xfrm>
            <a:off x="9079992" y="8302752"/>
            <a:ext cx="2560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2000" dirty="0"/>
          </a:p>
        </p:txBody>
      </p:sp>
      <p:sp>
        <p:nvSpPr>
          <p:cNvPr id="267" name="Shape 245"/>
          <p:cNvSpPr/>
          <p:nvPr/>
        </p:nvSpPr>
        <p:spPr>
          <a:xfrm>
            <a:off x="9720072" y="7772400"/>
            <a:ext cx="1481328" cy="932688"/>
          </a:xfrm>
          <a:prstGeom prst="roundRect">
            <a:avLst>
              <a:gd name="adj" fmla="val 7843"/>
            </a:avLst>
          </a:prstGeom>
          <a:solidFill>
            <a:srgbClr val="F4FFF4"/>
          </a:solidFill>
          <a:ln w="11430">
            <a:solidFill>
              <a:srgbClr val="68AA70"/>
            </a:solidFill>
            <a:prstDash val="solid"/>
          </a:ln>
        </p:spPr>
      </p:sp>
      <p:sp>
        <p:nvSpPr>
          <p:cNvPr id="268" name="Shape 246"/>
          <p:cNvSpPr/>
          <p:nvPr/>
        </p:nvSpPr>
        <p:spPr>
          <a:xfrm>
            <a:off x="9893808" y="7918704"/>
            <a:ext cx="384048" cy="384048"/>
          </a:xfrm>
          <a:prstGeom prst="rect">
            <a:avLst>
              <a:gd name="adj" fmla="val 19048"/>
            </a:avLst>
          </a:prstGeom>
          <a:solidFill>
            <a:srgbClr val="F4FFF4"/>
          </a:solidFill>
          <a:ln w="12700">
            <a:solidFill>
              <a:srgbClr val="F4FFF4"/>
            </a:solidFill>
            <a:prstDash val="solid"/>
          </a:ln>
        </p:spPr>
      </p:sp>
      <p:pic>
        <p:nvPicPr>
          <p:cNvPr id="269" name="Image 20" descr="C:\Users\dididimer\Documents\dimer-ppt\fresh_prm_clinic\assets\bottom_thumb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93808" y="7918704"/>
            <a:ext cx="384048" cy="384048"/>
          </a:xfrm>
          <a:prstGeom prst="rect">
            <a:avLst/>
          </a:prstGeom>
        </p:spPr>
      </p:pic>
      <p:sp>
        <p:nvSpPr>
          <p:cNvPr id="270" name="Text 247"/>
          <p:cNvSpPr/>
          <p:nvPr/>
        </p:nvSpPr>
        <p:spPr>
          <a:xfrm>
            <a:off x="10369296" y="7955280"/>
            <a:ext cx="60350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A-Prefer</a:t>
            </a:r>
            <a:endParaRPr lang="en-US" sz="820" dirty="0"/>
          </a:p>
        </p:txBody>
      </p:sp>
      <p:sp>
        <p:nvSpPr>
          <p:cNvPr id="271" name="Text 248"/>
          <p:cNvSpPr/>
          <p:nvPr/>
        </p:nvSpPr>
        <p:spPr>
          <a:xfrm>
            <a:off x="10204704" y="8412480"/>
            <a:ext cx="4754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56.2</a:t>
            </a:r>
            <a:endParaRPr lang="en-US" sz="1400" dirty="0"/>
          </a:p>
        </p:txBody>
      </p:sp>
      <p:sp>
        <p:nvSpPr>
          <p:cNvPr id="272" name="Text 249"/>
          <p:cNvSpPr/>
          <p:nvPr/>
        </p:nvSpPr>
        <p:spPr>
          <a:xfrm>
            <a:off x="10808208" y="8302752"/>
            <a:ext cx="2560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2000" dirty="0"/>
          </a:p>
        </p:txBody>
      </p:sp>
      <p:sp>
        <p:nvSpPr>
          <p:cNvPr id="273" name="Shape 250"/>
          <p:cNvSpPr/>
          <p:nvPr/>
        </p:nvSpPr>
        <p:spPr>
          <a:xfrm>
            <a:off x="11466576" y="7772400"/>
            <a:ext cx="1755648" cy="932688"/>
          </a:xfrm>
          <a:prstGeom prst="roundRect">
            <a:avLst>
              <a:gd name="adj" fmla="val 7843"/>
            </a:avLst>
          </a:prstGeom>
          <a:solidFill>
            <a:srgbClr val="FFF7F7"/>
          </a:solidFill>
          <a:ln w="11430">
            <a:solidFill>
              <a:srgbClr val="F28E95"/>
            </a:solidFill>
            <a:prstDash val="solid"/>
          </a:ln>
        </p:spPr>
      </p:sp>
      <p:sp>
        <p:nvSpPr>
          <p:cNvPr id="274" name="Shape 251"/>
          <p:cNvSpPr/>
          <p:nvPr/>
        </p:nvSpPr>
        <p:spPr>
          <a:xfrm>
            <a:off x="11686032" y="7918704"/>
            <a:ext cx="384048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5" name="Image 21" descr="C:\Users\dididimer\Documents\dimer-ppt\fresh_prm_clinic\assets\metric_heart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686032" y="7918704"/>
            <a:ext cx="384048" cy="384048"/>
          </a:xfrm>
          <a:prstGeom prst="rect">
            <a:avLst/>
          </a:prstGeom>
        </p:spPr>
      </p:pic>
      <p:sp>
        <p:nvSpPr>
          <p:cNvPr id="276" name="Text 252"/>
          <p:cNvSpPr/>
          <p:nvPr/>
        </p:nvSpPr>
        <p:spPr>
          <a:xfrm>
            <a:off x="12216384" y="7955280"/>
            <a:ext cx="822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临床偏好选择</a:t>
            </a:r>
            <a:endParaRPr lang="en-US" sz="840" dirty="0"/>
          </a:p>
        </p:txBody>
      </p:sp>
      <p:sp>
        <p:nvSpPr>
          <p:cNvPr id="277" name="Shape 253"/>
          <p:cNvSpPr/>
          <p:nvPr/>
        </p:nvSpPr>
        <p:spPr>
          <a:xfrm>
            <a:off x="11978640" y="8302752"/>
            <a:ext cx="841248" cy="438912"/>
          </a:xfrm>
          <a:prstGeom prst="rect">
            <a:avLst>
              <a:gd name="adj" fmla="val 16667"/>
            </a:avLst>
          </a:prstGeom>
          <a:solidFill>
            <a:srgbClr val="FFF7F7"/>
          </a:solidFill>
          <a:ln w="12700">
            <a:solidFill>
              <a:srgbClr val="FFF7F7"/>
            </a:solidFill>
            <a:prstDash val="solid"/>
          </a:ln>
        </p:spPr>
      </p:sp>
      <p:pic>
        <p:nvPicPr>
          <p:cNvPr id="278" name="Image 22" descr="C:\Users\dididimer\Documents\dimer-ppt\fresh_prm_clinic\assets\bottom_doctors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978640" y="8302752"/>
            <a:ext cx="841248" cy="438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PRM-Clinic Step-level Verification</dc:title>
  <dc:subject>Fresh editable reconstruction from PNG</dc:subject>
  <dc:creator>Codex</dc:creator>
  <cp:lastModifiedBy>Codex</cp:lastModifiedBy>
  <cp:revision>1</cp:revision>
  <dcterms:created xsi:type="dcterms:W3CDTF">2026-06-10T07:25:21Z</dcterms:created>
  <dcterms:modified xsi:type="dcterms:W3CDTF">2026-06-10T07:25:21Z</dcterms:modified>
</cp:coreProperties>
</file>