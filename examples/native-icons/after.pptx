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3716000" cy="9144000"/>
  <p:notesSz cx="91440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9.png"/><Relationship Id="rId11" Type="http://schemas.openxmlformats.org/officeDocument/2006/relationships/image" Target="../media/image-1-9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4.png"/><Relationship Id="rId16" Type="http://schemas.openxmlformats.org/officeDocument/2006/relationships/image" Target="../media/image-1-16.png"/><Relationship Id="rId17" Type="http://schemas.openxmlformats.org/officeDocument/2006/relationships/image" Target="../media/image-1-13.png"/><Relationship Id="rId18" Type="http://schemas.openxmlformats.org/officeDocument/2006/relationships/image" Target="../media/image-1-9.png"/><Relationship Id="rId19" Type="http://schemas.openxmlformats.org/officeDocument/2006/relationships/image" Target="../media/image-1-9.png"/><Relationship Id="rId20" Type="http://schemas.openxmlformats.org/officeDocument/2006/relationships/image" Target="../media/image-1-5.png"/><Relationship Id="rId21" Type="http://schemas.openxmlformats.org/officeDocument/2006/relationships/image" Target="../media/image-1-21.png"/><Relationship Id="rId22" Type="http://schemas.openxmlformats.org/officeDocument/2006/relationships/image" Target="../media/image-1-8.png"/><Relationship Id="rId23" Type="http://schemas.openxmlformats.org/officeDocument/2006/relationships/image" Target="../media/image-1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73152"/>
            <a:ext cx="1353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2： PRM-Clinic 的 Step-level 验证与 Best-of-N 选择机制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" y="502920"/>
            <a:ext cx="13533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3F3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process rewards outperform outcome-only ranking in clinical note generation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128016" y="859536"/>
            <a:ext cx="5394960" cy="6547104"/>
          </a:xfrm>
          <a:prstGeom prst="roundRect">
            <a:avLst>
              <a:gd name="adj" fmla="val 2034"/>
            </a:avLst>
          </a:prstGeom>
          <a:solidFill>
            <a:srgbClr val="EFF7FC"/>
          </a:solidFill>
          <a:ln w="13970">
            <a:solidFill>
              <a:srgbClr val="0D62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41848" y="859536"/>
            <a:ext cx="7936992" cy="2414016"/>
          </a:xfrm>
          <a:prstGeom prst="roundRect">
            <a:avLst>
              <a:gd name="adj" fmla="val 4545"/>
            </a:avLst>
          </a:prstGeom>
          <a:solidFill>
            <a:srgbClr val="FBEFF1"/>
          </a:solidFill>
          <a:ln w="12700">
            <a:solidFill>
              <a:srgbClr val="B71C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41848" y="3374136"/>
            <a:ext cx="7936992" cy="2221992"/>
          </a:xfrm>
          <a:prstGeom prst="roundRect">
            <a:avLst>
              <a:gd name="adj" fmla="val 4938"/>
            </a:avLst>
          </a:prstGeom>
          <a:solidFill>
            <a:srgbClr val="F3F9F3"/>
          </a:solidFill>
          <a:ln w="12700">
            <a:solidFill>
              <a:srgbClr val="208D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41848" y="5669280"/>
            <a:ext cx="7936992" cy="1810512"/>
          </a:xfrm>
          <a:prstGeom prst="roundRect">
            <a:avLst>
              <a:gd name="adj" fmla="val 6061"/>
            </a:avLst>
          </a:prstGeom>
          <a:solidFill>
            <a:srgbClr val="FEFAEC"/>
          </a:solidFill>
          <a:ln w="12700">
            <a:solidFill>
              <a:srgbClr val="E392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" y="7571232"/>
            <a:ext cx="13441680" cy="1444752"/>
          </a:xfrm>
          <a:prstGeom prst="roundRect">
            <a:avLst>
              <a:gd name="adj" fmla="val 7595"/>
            </a:avLst>
          </a:prstGeom>
          <a:solidFill>
            <a:srgbClr val="F8F4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60120"/>
            <a:ext cx="501091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5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  总览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74904" y="1353312"/>
            <a:ext cx="153619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0D62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426464"/>
            <a:ext cx="13898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临床对话 Dialogue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1088136" y="2596896"/>
            <a:ext cx="256032" cy="356616"/>
          </a:xfrm>
          <a:prstGeom prst="downArrow">
            <a:avLst/>
          </a:prstGeom>
          <a:solidFill>
            <a:srgbClr val="1E88D8"/>
          </a:solidFill>
          <a:ln w="12700">
            <a:solidFill>
              <a:srgbClr val="1E88D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76272" y="1353312"/>
            <a:ext cx="153619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0D62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9424" y="1426464"/>
            <a:ext cx="13898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候选笔记 Candidates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889504" y="2596896"/>
            <a:ext cx="256032" cy="356616"/>
          </a:xfrm>
          <a:prstGeom prst="downArrow">
            <a:avLst/>
          </a:prstGeom>
          <a:solidFill>
            <a:srgbClr val="1E88D8"/>
          </a:solidFill>
          <a:ln w="12700">
            <a:solidFill>
              <a:srgbClr val="1E88D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1353312"/>
            <a:ext cx="153619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0D62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42232" y="1426464"/>
            <a:ext cx="13898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金标准笔记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Gold Note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4782312" y="2596896"/>
            <a:ext cx="256032" cy="356616"/>
          </a:xfrm>
          <a:prstGeom prst="downArrow">
            <a:avLst/>
          </a:prstGeom>
          <a:solidFill>
            <a:srgbClr val="1E88D8"/>
          </a:solidFill>
          <a:ln w="12700">
            <a:solidFill>
              <a:srgbClr val="1E88D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" y="1755648"/>
            <a:ext cx="1097280" cy="649224"/>
          </a:xfrm>
          <a:prstGeom prst="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9" name="DIMER_ICON_TOP_DIALOGUE_note_00"/>
          <p:cNvSpPr/>
          <p:nvPr/>
        </p:nvSpPr>
        <p:spPr>
          <a:xfrm>
            <a:off x="1067235" y="1820570"/>
            <a:ext cx="501614" cy="519379"/>
          </a:xfrm>
          <a:custGeom>
            <a:avLst/>
            <a:gdLst/>
            <a:ahLst/>
            <a:cxnLst/>
            <a:rect l="l" t="t" r="r" b="b"/>
            <a:pathLst>
              <a:path w="64" h="72">
                <a:moveTo>
                  <a:pt x="0" y="0"/>
                </a:moveTo>
                <a:lnTo>
                  <a:pt x="50" y="0"/>
                </a:lnTo>
                <a:lnTo>
                  <a:pt x="64" y="14"/>
                </a:lnTo>
                <a:lnTo>
                  <a:pt x="64" y="72"/>
                </a:lnTo>
                <a:lnTo>
                  <a:pt x="0" y="72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DIMER_ICON_TOP_DIALOGUE_note_fold_01"/>
          <p:cNvSpPr/>
          <p:nvPr/>
        </p:nvSpPr>
        <p:spPr>
          <a:xfrm>
            <a:off x="1459121" y="1820570"/>
            <a:ext cx="109728" cy="10099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0" y="0"/>
                </a:moveTo>
                <a:lnTo>
                  <a:pt x="0" y="14"/>
                </a:lnTo>
                <a:lnTo>
                  <a:pt x="14" y="14"/>
                </a:lnTo>
                <a:close/>
              </a:path>
            </a:pathLst>
          </a:cu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1" name="DIMER_ICON_TOP_DIALOGUE_note_rule_02"/>
          <p:cNvCxnSpPr/>
          <p:nvPr/>
        </p:nvCxnSpPr>
        <p:spPr>
          <a:xfrm>
            <a:off x="1162542" y="2043903"/>
            <a:ext cx="295952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DIMER_ICON_TOP_DIALOGUE_note_rule_03"/>
          <p:cNvCxnSpPr/>
          <p:nvPr/>
        </p:nvCxnSpPr>
        <p:spPr>
          <a:xfrm>
            <a:off x="1162542" y="2121810"/>
            <a:ext cx="295952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DIMER_ICON_TOP_DIALOGUE_note_rule_04"/>
          <p:cNvCxnSpPr/>
          <p:nvPr/>
        </p:nvCxnSpPr>
        <p:spPr>
          <a:xfrm>
            <a:off x="1162542" y="2199717"/>
            <a:ext cx="295952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DIMER_ICON_TOP_DIALOGUE_note_rule_05"/>
          <p:cNvCxnSpPr/>
          <p:nvPr/>
        </p:nvCxnSpPr>
        <p:spPr>
          <a:xfrm>
            <a:off x="1162542" y="2277624"/>
            <a:ext cx="295952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DIMER_ICON_TOP_DIALOGUE_bubble_06"/>
          <p:cNvSpPr/>
          <p:nvPr/>
        </p:nvSpPr>
        <p:spPr>
          <a:xfrm>
            <a:off x="596973" y="1928774"/>
            <a:ext cx="462425" cy="274117"/>
          </a:xfrm>
          <a:prstGeom prst="roundRect">
            <a:avLst/>
          </a:prstGeom>
          <a:solidFill>
            <a:srgbClr val="A5CEE8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DIMER_ICON_TOP_DIALOGUE_bubble_tail_07"/>
          <p:cNvSpPr/>
          <p:nvPr/>
        </p:nvSpPr>
        <p:spPr>
          <a:xfrm>
            <a:off x="777240" y="2181250"/>
            <a:ext cx="101890" cy="79350"/>
          </a:xfrm>
          <a:custGeom>
            <a:avLst/>
            <a:gdLst/>
            <a:ahLst/>
            <a:cxnLst/>
            <a:rect l="l" t="t" r="r" b="b"/>
            <a:pathLst>
              <a:path w="13" h="11">
                <a:moveTo>
                  <a:pt x="0" y="0"/>
                </a:moveTo>
                <a:lnTo>
                  <a:pt x="8" y="11"/>
                </a:lnTo>
                <a:lnTo>
                  <a:pt x="13" y="0"/>
                </a:lnTo>
                <a:close/>
              </a:path>
            </a:pathLst>
          </a:custGeom>
          <a:solidFill>
            <a:srgbClr val="A5CEE8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DIMER_ICON_TOP_DIALOGUE_bubble_dot_08"/>
          <p:cNvSpPr/>
          <p:nvPr/>
        </p:nvSpPr>
        <p:spPr>
          <a:xfrm>
            <a:off x="730214" y="2051406"/>
            <a:ext cx="39189" cy="36068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DIMER_ICON_TOP_DIALOGUE_bubble_dot_09"/>
          <p:cNvSpPr/>
          <p:nvPr/>
        </p:nvSpPr>
        <p:spPr>
          <a:xfrm>
            <a:off x="832104" y="2051406"/>
            <a:ext cx="39189" cy="36068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DIMER_ICON_TOP_DIALOGUE_bubble_dot_10"/>
          <p:cNvSpPr/>
          <p:nvPr/>
        </p:nvSpPr>
        <p:spPr>
          <a:xfrm>
            <a:off x="933994" y="2051406"/>
            <a:ext cx="39189" cy="36068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DIMER_ICON_TOP_DIALOGUE_medical_h_11"/>
          <p:cNvSpPr/>
          <p:nvPr/>
        </p:nvSpPr>
        <p:spPr>
          <a:xfrm>
            <a:off x="1216152" y="1972056"/>
            <a:ext cx="172430" cy="43282"/>
          </a:xfrm>
          <a:prstGeom prst="rect">
            <a:avLst/>
          </a:prstGeom>
          <a:solidFill>
            <a:srgbClr val="E96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DIMER_ICON_TOP_DIALOGUE_medical_v_12"/>
          <p:cNvSpPr/>
          <p:nvPr/>
        </p:nvSpPr>
        <p:spPr>
          <a:xfrm>
            <a:off x="1278854" y="1914347"/>
            <a:ext cx="47026" cy="158699"/>
          </a:xfrm>
          <a:prstGeom prst="rect">
            <a:avLst/>
          </a:prstGeom>
          <a:solidFill>
            <a:srgbClr val="E96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hape 18"/>
          <p:cNvSpPr/>
          <p:nvPr/>
        </p:nvSpPr>
        <p:spPr>
          <a:xfrm>
            <a:off x="2478024" y="1764792"/>
            <a:ext cx="1014984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IMER_ICON_TOP_CANDIDATES_back_note_00"/>
          <p:cNvSpPr/>
          <p:nvPr/>
        </p:nvSpPr>
        <p:spPr>
          <a:xfrm>
            <a:off x="2754838" y="1807464"/>
            <a:ext cx="538249" cy="490728"/>
          </a:xfrm>
          <a:custGeom>
            <a:avLst/>
            <a:gdLst/>
            <a:ahLst/>
            <a:cxnLst/>
            <a:rect l="l" t="t" r="r" b="b"/>
            <a:pathLst>
              <a:path w="70" h="69">
                <a:moveTo>
                  <a:pt x="0" y="0"/>
                </a:moveTo>
                <a:lnTo>
                  <a:pt x="55" y="0"/>
                </a:lnTo>
                <a:lnTo>
                  <a:pt x="70" y="15"/>
                </a:lnTo>
                <a:lnTo>
                  <a:pt x="70" y="69"/>
                </a:lnTo>
                <a:lnTo>
                  <a:pt x="0" y="69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DIMER_ICON_TOP_CANDIDATES_back_note_fold_01"/>
          <p:cNvSpPr/>
          <p:nvPr/>
        </p:nvSpPr>
        <p:spPr>
          <a:xfrm>
            <a:off x="3177748" y="1807464"/>
            <a:ext cx="115339" cy="10668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0" y="0"/>
                </a:moveTo>
                <a:lnTo>
                  <a:pt x="0" y="15"/>
                </a:lnTo>
                <a:lnTo>
                  <a:pt x="15" y="15"/>
                </a:lnTo>
                <a:close/>
              </a:path>
            </a:pathLst>
          </a:cu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3" name="DIMER_ICON_TOP_CANDIDATES_back_note_rule_02"/>
          <p:cNvCxnSpPr/>
          <p:nvPr/>
        </p:nvCxnSpPr>
        <p:spPr>
          <a:xfrm>
            <a:off x="2857105" y="2018477"/>
            <a:ext cx="317567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DIMER_ICON_TOP_CANDIDATES_back_note_rule_03"/>
          <p:cNvCxnSpPr/>
          <p:nvPr/>
        </p:nvCxnSpPr>
        <p:spPr>
          <a:xfrm>
            <a:off x="2857105" y="2092086"/>
            <a:ext cx="317567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DIMER_ICON_TOP_CANDIDATES_middle_note_04"/>
          <p:cNvSpPr/>
          <p:nvPr/>
        </p:nvSpPr>
        <p:spPr>
          <a:xfrm>
            <a:off x="2662567" y="1864360"/>
            <a:ext cx="538249" cy="490728"/>
          </a:xfrm>
          <a:custGeom>
            <a:avLst/>
            <a:gdLst/>
            <a:ahLst/>
            <a:cxnLst/>
            <a:rect l="l" t="t" r="r" b="b"/>
            <a:pathLst>
              <a:path w="70" h="69">
                <a:moveTo>
                  <a:pt x="0" y="0"/>
                </a:moveTo>
                <a:lnTo>
                  <a:pt x="55" y="0"/>
                </a:lnTo>
                <a:lnTo>
                  <a:pt x="70" y="15"/>
                </a:lnTo>
                <a:lnTo>
                  <a:pt x="70" y="69"/>
                </a:lnTo>
                <a:lnTo>
                  <a:pt x="0" y="69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DIMER_ICON_TOP_CANDIDATES_middle_note_fold_05"/>
          <p:cNvSpPr/>
          <p:nvPr/>
        </p:nvSpPr>
        <p:spPr>
          <a:xfrm>
            <a:off x="3085477" y="1864360"/>
            <a:ext cx="115339" cy="10668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0" y="0"/>
                </a:moveTo>
                <a:lnTo>
                  <a:pt x="0" y="15"/>
                </a:lnTo>
                <a:lnTo>
                  <a:pt x="15" y="15"/>
                </a:lnTo>
                <a:close/>
              </a:path>
            </a:pathLst>
          </a:cu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7" name="DIMER_ICON_TOP_CANDIDATES_middle_note_rule_06"/>
          <p:cNvCxnSpPr/>
          <p:nvPr/>
        </p:nvCxnSpPr>
        <p:spPr>
          <a:xfrm>
            <a:off x="2764834" y="2075373"/>
            <a:ext cx="317567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DIMER_ICON_TOP_CANDIDATES_middle_note_rule_07"/>
          <p:cNvCxnSpPr/>
          <p:nvPr/>
        </p:nvCxnSpPr>
        <p:spPr>
          <a:xfrm>
            <a:off x="2764834" y="2148982"/>
            <a:ext cx="317567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DIMER_ICON_TOP_CANDIDATES_middle_note_rule_08"/>
          <p:cNvCxnSpPr/>
          <p:nvPr/>
        </p:nvCxnSpPr>
        <p:spPr>
          <a:xfrm>
            <a:off x="2764834" y="2222591"/>
            <a:ext cx="317567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DIMER_ICON_TOP_CANDIDATES_front_note_09"/>
          <p:cNvSpPr/>
          <p:nvPr/>
        </p:nvSpPr>
        <p:spPr>
          <a:xfrm>
            <a:off x="2547227" y="1921256"/>
            <a:ext cx="538249" cy="469392"/>
          </a:xfrm>
          <a:custGeom>
            <a:avLst/>
            <a:gdLst/>
            <a:ahLst/>
            <a:cxnLst/>
            <a:rect l="l" t="t" r="r" b="b"/>
            <a:pathLst>
              <a:path w="70" h="66">
                <a:moveTo>
                  <a:pt x="0" y="0"/>
                </a:moveTo>
                <a:lnTo>
                  <a:pt x="55" y="0"/>
                </a:lnTo>
                <a:lnTo>
                  <a:pt x="70" y="15"/>
                </a:lnTo>
                <a:lnTo>
                  <a:pt x="7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DIMER_ICON_TOP_CANDIDATES_front_note_fold_10"/>
          <p:cNvSpPr/>
          <p:nvPr/>
        </p:nvSpPr>
        <p:spPr>
          <a:xfrm>
            <a:off x="2970137" y="1921256"/>
            <a:ext cx="115339" cy="10668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0" y="0"/>
                </a:moveTo>
                <a:lnTo>
                  <a:pt x="0" y="15"/>
                </a:lnTo>
                <a:lnTo>
                  <a:pt x="15" y="15"/>
                </a:lnTo>
                <a:close/>
              </a:path>
            </a:pathLst>
          </a:cu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2" name="DIMER_ICON_TOP_CANDIDATES_front_note_rule_11"/>
          <p:cNvCxnSpPr/>
          <p:nvPr/>
        </p:nvCxnSpPr>
        <p:spPr>
          <a:xfrm>
            <a:off x="2649495" y="2123095"/>
            <a:ext cx="317567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DIMER_ICON_TOP_CANDIDATES_front_note_rule_12"/>
          <p:cNvCxnSpPr/>
          <p:nvPr/>
        </p:nvCxnSpPr>
        <p:spPr>
          <a:xfrm>
            <a:off x="2649495" y="2193503"/>
            <a:ext cx="317567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DIMER_ICON_TOP_CANDIDATES_front_note_rule_13"/>
          <p:cNvCxnSpPr/>
          <p:nvPr/>
        </p:nvCxnSpPr>
        <p:spPr>
          <a:xfrm>
            <a:off x="2649495" y="2263912"/>
            <a:ext cx="317567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DIMER_ICON_TOP_CANDIDATES_front_note_rule_14"/>
          <p:cNvCxnSpPr/>
          <p:nvPr/>
        </p:nvCxnSpPr>
        <p:spPr>
          <a:xfrm>
            <a:off x="2649495" y="2334321"/>
            <a:ext cx="317567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hape 19"/>
          <p:cNvSpPr/>
          <p:nvPr/>
        </p:nvSpPr>
        <p:spPr>
          <a:xfrm>
            <a:off x="4389120" y="1764792"/>
            <a:ext cx="694944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IMER_ICON_TOP_GOLD_gold_note_00"/>
          <p:cNvSpPr/>
          <p:nvPr/>
        </p:nvSpPr>
        <p:spPr>
          <a:xfrm>
            <a:off x="4487319" y="1820823"/>
            <a:ext cx="460778" cy="525294"/>
          </a:xfrm>
          <a:custGeom>
            <a:avLst/>
            <a:gdLst/>
            <a:ahLst/>
            <a:cxnLst/>
            <a:rect l="l" t="t" r="r" b="b"/>
            <a:pathLst>
              <a:path w="61" h="75">
                <a:moveTo>
                  <a:pt x="0" y="0"/>
                </a:moveTo>
                <a:lnTo>
                  <a:pt x="48" y="0"/>
                </a:lnTo>
                <a:lnTo>
                  <a:pt x="61" y="13"/>
                </a:lnTo>
                <a:lnTo>
                  <a:pt x="61" y="75"/>
                </a:lnTo>
                <a:lnTo>
                  <a:pt x="0" y="75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DIMER_ICON_TOP_GOLD_gold_note_fold_01"/>
          <p:cNvSpPr/>
          <p:nvPr/>
        </p:nvSpPr>
        <p:spPr>
          <a:xfrm>
            <a:off x="4849898" y="1820823"/>
            <a:ext cx="98199" cy="91051"/>
          </a:xfrm>
          <a:custGeom>
            <a:avLst/>
            <a:gdLst/>
            <a:ahLst/>
            <a:cxnLst/>
            <a:rect l="l" t="t" r="r" b="b"/>
            <a:pathLst>
              <a:path w="13" h="13">
                <a:moveTo>
                  <a:pt x="0" y="0"/>
                </a:moveTo>
                <a:lnTo>
                  <a:pt x="0" y="13"/>
                </a:lnTo>
                <a:lnTo>
                  <a:pt x="13" y="13"/>
                </a:lnTo>
                <a:close/>
              </a:path>
            </a:pathLst>
          </a:cu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7" name="DIMER_ICON_TOP_GOLD_gold_note_rule_02"/>
          <p:cNvCxnSpPr/>
          <p:nvPr/>
        </p:nvCxnSpPr>
        <p:spPr>
          <a:xfrm>
            <a:off x="4574866" y="2046700"/>
            <a:ext cx="271860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DIMER_ICON_TOP_GOLD_gold_note_rule_03"/>
          <p:cNvCxnSpPr/>
          <p:nvPr/>
        </p:nvCxnSpPr>
        <p:spPr>
          <a:xfrm>
            <a:off x="4574866" y="2125494"/>
            <a:ext cx="271860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DIMER_ICON_TOP_GOLD_gold_note_rule_04"/>
          <p:cNvCxnSpPr/>
          <p:nvPr/>
        </p:nvCxnSpPr>
        <p:spPr>
          <a:xfrm>
            <a:off x="4574866" y="2204288"/>
            <a:ext cx="271860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DIMER_ICON_TOP_GOLD_gold_note_rule_05"/>
          <p:cNvCxnSpPr/>
          <p:nvPr/>
        </p:nvCxnSpPr>
        <p:spPr>
          <a:xfrm>
            <a:off x="4574866" y="2283082"/>
            <a:ext cx="271860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DIMER_ICON_TOP_GOLD_check_badge_06"/>
          <p:cNvSpPr/>
          <p:nvPr/>
        </p:nvSpPr>
        <p:spPr>
          <a:xfrm>
            <a:off x="4766807" y="2114988"/>
            <a:ext cx="256827" cy="238133"/>
          </a:xfrm>
          <a:prstGeom prst="ellipse">
            <a:avLst/>
          </a:prstGeom>
          <a:solidFill>
            <a:srgbClr val="68BE7A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2" name="DIMER_ICON_TOP_GOLD_check_short_07"/>
          <p:cNvCxnSpPr/>
          <p:nvPr/>
        </p:nvCxnSpPr>
        <p:spPr>
          <a:xfrm>
            <a:off x="4818172" y="2238817"/>
            <a:ext cx="53934" cy="47627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DIMER_ICON_TOP_GOLD_check_long_08"/>
          <p:cNvCxnSpPr/>
          <p:nvPr/>
        </p:nvCxnSpPr>
        <p:spPr>
          <a:xfrm flipV="1">
            <a:off x="4872106" y="2179284"/>
            <a:ext cx="105299" cy="10716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hape 20"/>
          <p:cNvSpPr/>
          <p:nvPr/>
        </p:nvSpPr>
        <p:spPr>
          <a:xfrm>
            <a:off x="292608" y="2999232"/>
            <a:ext cx="5047488" cy="1481328"/>
          </a:xfrm>
          <a:prstGeom prst="roundRect">
            <a:avLst>
              <a:gd name="adj" fmla="val 6173"/>
            </a:avLst>
          </a:prstGeom>
          <a:solidFill>
            <a:srgbClr val="F9FCFF"/>
          </a:solidFill>
          <a:ln w="15240">
            <a:solidFill>
              <a:srgbClr val="102A6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68680" y="3200400"/>
            <a:ext cx="530352" cy="475488"/>
          </a:xfrm>
          <a:prstGeom prst="rect">
            <a:avLst>
              <a:gd name="adj" fmla="val 15385"/>
            </a:avLst>
          </a:prstGeom>
          <a:solidFill>
            <a:srgbClr val="F9FCFF"/>
          </a:solidFill>
          <a:ln w="12700">
            <a:solidFill>
              <a:srgbClr val="F9FCFF"/>
            </a:solidFill>
            <a:prstDash val="solid"/>
          </a:ln>
        </p:spPr>
      </p:sp>
      <p:cxnSp>
        <p:nvCxnSpPr>
          <p:cNvPr id="314" name="DIMER_ICON_ROBOT_antenna_00"/>
          <p:cNvCxnSpPr/>
          <p:nvPr/>
        </p:nvCxnSpPr>
        <p:spPr>
          <a:xfrm>
            <a:off x="1133856" y="3217382"/>
            <a:ext cx="0" cy="76417"/>
          </a:xfrm>
          <a:prstGeom prst="line">
            <a:avLst/>
          </a:prstGeom>
          <a:ln w="10160">
            <a:solidFill>
              <a:srgbClr val="26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DIMER_ICON_ROBOT_antenna_tip_01"/>
          <p:cNvSpPr/>
          <p:nvPr/>
        </p:nvSpPr>
        <p:spPr>
          <a:xfrm>
            <a:off x="1106424" y="3200400"/>
            <a:ext cx="54864" cy="50945"/>
          </a:xfrm>
          <a:prstGeom prst="ellipse">
            <a:avLst/>
          </a:prstGeom>
          <a:solidFill>
            <a:srgbClr val="7FB6DB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DIMER_ICON_ROBOT_left_ear_02"/>
          <p:cNvSpPr/>
          <p:nvPr/>
        </p:nvSpPr>
        <p:spPr>
          <a:xfrm>
            <a:off x="896112" y="3370217"/>
            <a:ext cx="82296" cy="152835"/>
          </a:xfrm>
          <a:prstGeom prst="roundRect">
            <a:avLst/>
          </a:prstGeom>
          <a:solidFill>
            <a:srgbClr val="7FB6DB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DIMER_ICON_ROBOT_right_ear_03"/>
          <p:cNvSpPr/>
          <p:nvPr/>
        </p:nvSpPr>
        <p:spPr>
          <a:xfrm>
            <a:off x="1289304" y="3370217"/>
            <a:ext cx="82296" cy="152835"/>
          </a:xfrm>
          <a:prstGeom prst="roundRect">
            <a:avLst/>
          </a:prstGeom>
          <a:solidFill>
            <a:srgbClr val="7FB6DB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DIMER_ICON_ROBOT_head_04"/>
          <p:cNvSpPr/>
          <p:nvPr/>
        </p:nvSpPr>
        <p:spPr>
          <a:xfrm>
            <a:off x="950976" y="3285309"/>
            <a:ext cx="365760" cy="28868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DIMER_ICON_ROBOT_forehead_05"/>
          <p:cNvSpPr/>
          <p:nvPr/>
        </p:nvSpPr>
        <p:spPr>
          <a:xfrm>
            <a:off x="1005840" y="3310781"/>
            <a:ext cx="256032" cy="67927"/>
          </a:xfrm>
          <a:prstGeom prst="roundRect">
            <a:avLst/>
          </a:prstGeom>
          <a:solidFill>
            <a:srgbClr val="D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DIMER_ICON_ROBOT_visor_06"/>
          <p:cNvSpPr/>
          <p:nvPr/>
        </p:nvSpPr>
        <p:spPr>
          <a:xfrm>
            <a:off x="987552" y="3378708"/>
            <a:ext cx="292608" cy="152835"/>
          </a:xfrm>
          <a:prstGeom prst="roundRect">
            <a:avLst/>
          </a:prstGeom>
          <a:solidFill>
            <a:srgbClr val="A5CEE8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DIMER_ICON_ROBOT_left_eye_07"/>
          <p:cNvSpPr/>
          <p:nvPr/>
        </p:nvSpPr>
        <p:spPr>
          <a:xfrm>
            <a:off x="1051560" y="3429653"/>
            <a:ext cx="45720" cy="42454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DIMER_ICON_ROBOT_right_eye_08"/>
          <p:cNvSpPr/>
          <p:nvPr/>
        </p:nvSpPr>
        <p:spPr>
          <a:xfrm>
            <a:off x="1170432" y="3429653"/>
            <a:ext cx="45720" cy="42454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DIMER_ICON_ROBOT_left_glint_09"/>
          <p:cNvSpPr/>
          <p:nvPr/>
        </p:nvSpPr>
        <p:spPr>
          <a:xfrm>
            <a:off x="1060704" y="3429653"/>
            <a:ext cx="18288" cy="169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DIMER_ICON_ROBOT_right_glint_10"/>
          <p:cNvSpPr/>
          <p:nvPr/>
        </p:nvSpPr>
        <p:spPr>
          <a:xfrm>
            <a:off x="1179576" y="3429653"/>
            <a:ext cx="18288" cy="169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DIMER_ICON_ROBOT_neck_11"/>
          <p:cNvSpPr/>
          <p:nvPr/>
        </p:nvSpPr>
        <p:spPr>
          <a:xfrm>
            <a:off x="1088136" y="3573998"/>
            <a:ext cx="91440" cy="33963"/>
          </a:xfrm>
          <a:prstGeom prst="rect">
            <a:avLst/>
          </a:pr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DIMER_ICON_ROBOT_base_12"/>
          <p:cNvSpPr/>
          <p:nvPr/>
        </p:nvSpPr>
        <p:spPr>
          <a:xfrm>
            <a:off x="1024128" y="3607961"/>
            <a:ext cx="219456" cy="50945"/>
          </a:xfrm>
          <a:prstGeom prst="roundRect">
            <a:avLst/>
          </a:pr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 22"/>
          <p:cNvSpPr/>
          <p:nvPr/>
        </p:nvSpPr>
        <p:spPr>
          <a:xfrm>
            <a:off x="1719072" y="3200400"/>
            <a:ext cx="2057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Step-level  PRM Scoring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365760" y="3547872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75488" y="3694176"/>
            <a:ext cx="274320" cy="292608"/>
          </a:xfrm>
          <a:prstGeom prst="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IMER_ICON_SHIELD_shield_00"/>
          <p:cNvSpPr/>
          <p:nvPr/>
        </p:nvSpPr>
        <p:spPr>
          <a:xfrm>
            <a:off x="508145" y="3706898"/>
            <a:ext cx="209006" cy="267164"/>
          </a:xfrm>
          <a:custGeom>
            <a:avLst/>
            <a:gdLst/>
            <a:ahLst/>
            <a:cxnLst/>
            <a:rect l="l" t="t" r="r" b="b"/>
            <a:pathLst>
              <a:path w="32" h="42">
                <a:moveTo>
                  <a:pt x="16" y="0"/>
                </a:moveTo>
                <a:lnTo>
                  <a:pt x="32" y="6"/>
                </a:lnTo>
                <a:lnTo>
                  <a:pt x="31" y="25"/>
                </a:lnTo>
                <a:lnTo>
                  <a:pt x="26" y="35"/>
                </a:lnTo>
                <a:lnTo>
                  <a:pt x="16" y="42"/>
                </a:lnTo>
                <a:lnTo>
                  <a:pt x="6" y="35"/>
                </a:lnTo>
                <a:lnTo>
                  <a:pt x="1" y="25"/>
                </a:lnTo>
                <a:lnTo>
                  <a:pt x="0" y="6"/>
                </a:lnTo>
                <a:close/>
              </a:path>
            </a:pathLst>
          </a:custGeom>
          <a:solidFill>
            <a:srgbClr val="7FB6DB"/>
          </a:solidFill>
          <a:ln w="1270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MER_ICON_SHIELD_check_01"/>
          <p:cNvSpPr/>
          <p:nvPr/>
        </p:nvSpPr>
        <p:spPr>
          <a:xfrm>
            <a:off x="534271" y="3789592"/>
            <a:ext cx="150223" cy="108138"/>
          </a:xfrm>
          <a:custGeom>
            <a:avLst/>
            <a:gdLst/>
            <a:ahLst/>
            <a:cxnLst/>
            <a:rect l="l" t="t" r="r" b="b"/>
            <a:pathLst>
              <a:path w="23" h="17">
                <a:moveTo>
                  <a:pt x="3" y="7"/>
                </a:moveTo>
                <a:lnTo>
                  <a:pt x="8" y="12"/>
                </a:lnTo>
                <a:lnTo>
                  <a:pt x="20" y="0"/>
                </a:lnTo>
                <a:lnTo>
                  <a:pt x="23" y="3"/>
                </a:lnTo>
                <a:lnTo>
                  <a:pt x="8" y="17"/>
                </a:lnTo>
                <a:lnTo>
                  <a:pt x="0" y="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7" name="DIMER_ICON_SHIELD_highlight_02"/>
          <p:cNvCxnSpPr/>
          <p:nvPr/>
        </p:nvCxnSpPr>
        <p:spPr>
          <a:xfrm flipV="1">
            <a:off x="540802" y="3738703"/>
            <a:ext cx="52252" cy="25444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25"/>
          <p:cNvSpPr/>
          <p:nvPr/>
        </p:nvSpPr>
        <p:spPr>
          <a:xfrm>
            <a:off x="822960" y="3703320"/>
            <a:ext cx="6583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事实性</a:t>
            </a:r>
            <a:endParaRPr lang="en-US" sz="810" dirty="0"/>
          </a:p>
        </p:txBody>
      </p:sp>
      <p:sp>
        <p:nvSpPr>
          <p:cNvPr id="33" name="Text 26"/>
          <p:cNvSpPr/>
          <p:nvPr/>
        </p:nvSpPr>
        <p:spPr>
          <a:xfrm>
            <a:off x="822960" y="3913632"/>
            <a:ext cx="67665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Factuality</a:t>
            </a:r>
            <a:endParaRPr lang="en-US" sz="640" dirty="0"/>
          </a:p>
        </p:txBody>
      </p:sp>
      <p:sp>
        <p:nvSpPr>
          <p:cNvPr id="34" name="Shape 27"/>
          <p:cNvSpPr/>
          <p:nvPr/>
        </p:nvSpPr>
        <p:spPr>
          <a:xfrm>
            <a:off x="1636776" y="3547872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746504" y="3694176"/>
            <a:ext cx="274320" cy="292608"/>
          </a:xfrm>
          <a:prstGeom prst="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DIMER_ICON_PUZZLE_puzzle_00"/>
          <p:cNvSpPr/>
          <p:nvPr/>
        </p:nvSpPr>
        <p:spPr>
          <a:xfrm>
            <a:off x="1772630" y="3725981"/>
            <a:ext cx="228600" cy="222637"/>
          </a:xfrm>
          <a:custGeom>
            <a:avLst/>
            <a:gdLst/>
            <a:ahLst/>
            <a:cxnLst/>
            <a:rect l="l" t="t" r="r" b="b"/>
            <a:pathLst>
              <a:path w="35" h="35">
                <a:moveTo>
                  <a:pt x="0" y="9"/>
                </a:moveTo>
                <a:lnTo>
                  <a:pt x="9" y="9"/>
                </a:lnTo>
                <a:lnTo>
                  <a:pt x="9" y="5"/>
                </a:lnTo>
                <a:lnTo>
                  <a:pt x="11" y="1"/>
                </a:lnTo>
                <a:lnTo>
                  <a:pt x="16" y="0"/>
                </a:lnTo>
                <a:lnTo>
                  <a:pt x="20" y="3"/>
                </a:lnTo>
                <a:lnTo>
                  <a:pt x="20" y="9"/>
                </a:lnTo>
                <a:lnTo>
                  <a:pt x="27" y="9"/>
                </a:lnTo>
                <a:lnTo>
                  <a:pt x="27" y="16"/>
                </a:lnTo>
                <a:lnTo>
                  <a:pt x="32" y="16"/>
                </a:lnTo>
                <a:lnTo>
                  <a:pt x="35" y="19"/>
                </a:lnTo>
                <a:lnTo>
                  <a:pt x="33" y="24"/>
                </a:lnTo>
                <a:lnTo>
                  <a:pt x="27" y="24"/>
                </a:lnTo>
                <a:lnTo>
                  <a:pt x="27" y="35"/>
                </a:lnTo>
                <a:lnTo>
                  <a:pt x="19" y="35"/>
                </a:lnTo>
                <a:lnTo>
                  <a:pt x="19" y="30"/>
                </a:lnTo>
                <a:lnTo>
                  <a:pt x="15" y="27"/>
                </a:lnTo>
                <a:lnTo>
                  <a:pt x="11" y="30"/>
                </a:lnTo>
                <a:lnTo>
                  <a:pt x="11" y="35"/>
                </a:lnTo>
                <a:lnTo>
                  <a:pt x="0" y="35"/>
                </a:lnTo>
                <a:lnTo>
                  <a:pt x="0" y="24"/>
                </a:lnTo>
                <a:lnTo>
                  <a:pt x="5" y="24"/>
                </a:lnTo>
                <a:lnTo>
                  <a:pt x="8" y="20"/>
                </a:lnTo>
                <a:lnTo>
                  <a:pt x="5" y="16"/>
                </a:lnTo>
                <a:lnTo>
                  <a:pt x="0" y="16"/>
                </a:lnTo>
                <a:close/>
              </a:path>
            </a:pathLst>
          </a:custGeom>
          <a:solidFill>
            <a:srgbClr val="7FB6DB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 29"/>
          <p:cNvSpPr/>
          <p:nvPr/>
        </p:nvSpPr>
        <p:spPr>
          <a:xfrm>
            <a:off x="2093976" y="3703320"/>
            <a:ext cx="6583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810" dirty="0"/>
          </a:p>
        </p:txBody>
      </p:sp>
      <p:sp>
        <p:nvSpPr>
          <p:cNvPr id="38" name="Text 30"/>
          <p:cNvSpPr/>
          <p:nvPr/>
        </p:nvSpPr>
        <p:spPr>
          <a:xfrm>
            <a:off x="2093976" y="3913632"/>
            <a:ext cx="67665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Completeness</a:t>
            </a:r>
            <a:endParaRPr lang="en-US" sz="640" dirty="0"/>
          </a:p>
        </p:txBody>
      </p:sp>
      <p:sp>
        <p:nvSpPr>
          <p:cNvPr id="39" name="Shape 31"/>
          <p:cNvSpPr/>
          <p:nvPr/>
        </p:nvSpPr>
        <p:spPr>
          <a:xfrm>
            <a:off x="2907792" y="3547872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3017520" y="3694176"/>
            <a:ext cx="274320" cy="292608"/>
          </a:xfrm>
          <a:prstGeom prst="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cxnSp>
        <p:nvCxnSpPr>
          <p:cNvPr id="328" name="DIMER_ICON_LOGIC_left_branch_00"/>
          <p:cNvCxnSpPr/>
          <p:nvPr/>
        </p:nvCxnSpPr>
        <p:spPr>
          <a:xfrm flipH="1">
            <a:off x="3080385" y="3776106"/>
            <a:ext cx="74295" cy="134600"/>
          </a:xfrm>
          <a:prstGeom prst="line">
            <a:avLst/>
          </a:prstGeom>
          <a:ln w="10160">
            <a:solidFill>
              <a:srgbClr val="26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DIMER_ICON_LOGIC_right_branch_01"/>
          <p:cNvCxnSpPr/>
          <p:nvPr/>
        </p:nvCxnSpPr>
        <p:spPr>
          <a:xfrm>
            <a:off x="3154680" y="3776106"/>
            <a:ext cx="85725" cy="134600"/>
          </a:xfrm>
          <a:prstGeom prst="line">
            <a:avLst/>
          </a:prstGeom>
          <a:ln w="10160">
            <a:solidFill>
              <a:srgbClr val="26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DIMER_ICON_LOGIC_root_02"/>
          <p:cNvSpPr/>
          <p:nvPr/>
        </p:nvSpPr>
        <p:spPr>
          <a:xfrm>
            <a:off x="3120390" y="3711732"/>
            <a:ext cx="74295" cy="76078"/>
          </a:xfrm>
          <a:prstGeom prst="ellipse">
            <a:avLst/>
          </a:prstGeom>
          <a:solidFill>
            <a:srgbClr val="8CCFBA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DIMER_ICON_LOGIC_left_node_03"/>
          <p:cNvSpPr/>
          <p:nvPr/>
        </p:nvSpPr>
        <p:spPr>
          <a:xfrm>
            <a:off x="3046095" y="3893149"/>
            <a:ext cx="68580" cy="70226"/>
          </a:xfrm>
          <a:prstGeom prst="ellipse">
            <a:avLst/>
          </a:prstGeom>
          <a:solidFill>
            <a:srgbClr val="A5CEE8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DIMER_ICON_LOGIC_right_node_04"/>
          <p:cNvSpPr/>
          <p:nvPr/>
        </p:nvSpPr>
        <p:spPr>
          <a:xfrm>
            <a:off x="3206115" y="3893149"/>
            <a:ext cx="68580" cy="70226"/>
          </a:xfrm>
          <a:prstGeom prst="ellipse">
            <a:avLst/>
          </a:prstGeom>
          <a:solidFill>
            <a:srgbClr val="D8EAF6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 33"/>
          <p:cNvSpPr/>
          <p:nvPr/>
        </p:nvSpPr>
        <p:spPr>
          <a:xfrm>
            <a:off x="3364992" y="3703320"/>
            <a:ext cx="6583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逻辑性</a:t>
            </a:r>
            <a:endParaRPr lang="en-US" sz="810" dirty="0"/>
          </a:p>
        </p:txBody>
      </p:sp>
      <p:sp>
        <p:nvSpPr>
          <p:cNvPr id="43" name="Text 34"/>
          <p:cNvSpPr/>
          <p:nvPr/>
        </p:nvSpPr>
        <p:spPr>
          <a:xfrm>
            <a:off x="3364992" y="3913632"/>
            <a:ext cx="67665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Logicality</a:t>
            </a:r>
            <a:endParaRPr lang="en-US" sz="640" dirty="0"/>
          </a:p>
        </p:txBody>
      </p:sp>
      <p:sp>
        <p:nvSpPr>
          <p:cNvPr id="44" name="Shape 35"/>
          <p:cNvSpPr/>
          <p:nvPr/>
        </p:nvSpPr>
        <p:spPr>
          <a:xfrm>
            <a:off x="4178808" y="3547872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4288536" y="3694176"/>
            <a:ext cx="274320" cy="292608"/>
          </a:xfrm>
          <a:prstGeom prst="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3" name="DIMER_ICON_HEART_heart_00"/>
          <p:cNvSpPr/>
          <p:nvPr/>
        </p:nvSpPr>
        <p:spPr>
          <a:xfrm>
            <a:off x="4311396" y="3738703"/>
            <a:ext cx="211455" cy="222637"/>
          </a:xfrm>
          <a:prstGeom prst="heart">
            <a:avLst/>
          </a:prstGeom>
          <a:solidFill>
            <a:srgbClr val="E96F72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DIMER_ICON_HEART_cross_h_01"/>
          <p:cNvSpPr/>
          <p:nvPr/>
        </p:nvSpPr>
        <p:spPr>
          <a:xfrm>
            <a:off x="4357116" y="3821397"/>
            <a:ext cx="120015" cy="318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DIMER_ICON_HEART_cross_v_02"/>
          <p:cNvSpPr/>
          <p:nvPr/>
        </p:nvSpPr>
        <p:spPr>
          <a:xfrm>
            <a:off x="4402836" y="3770509"/>
            <a:ext cx="28575" cy="1335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 37"/>
          <p:cNvSpPr/>
          <p:nvPr/>
        </p:nvSpPr>
        <p:spPr>
          <a:xfrm>
            <a:off x="4636008" y="3703320"/>
            <a:ext cx="6583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临床帮助</a:t>
            </a:r>
            <a:endParaRPr lang="en-US" sz="810" dirty="0"/>
          </a:p>
        </p:txBody>
      </p:sp>
      <p:sp>
        <p:nvSpPr>
          <p:cNvPr id="48" name="Text 38"/>
          <p:cNvSpPr/>
          <p:nvPr/>
        </p:nvSpPr>
        <p:spPr>
          <a:xfrm>
            <a:off x="4636008" y="3913632"/>
            <a:ext cx="67665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Helpfulness</a:t>
            </a:r>
            <a:endParaRPr lang="en-US" sz="640" dirty="0"/>
          </a:p>
        </p:txBody>
      </p:sp>
      <p:sp>
        <p:nvSpPr>
          <p:cNvPr id="49" name="Shape 39"/>
          <p:cNvSpPr/>
          <p:nvPr/>
        </p:nvSpPr>
        <p:spPr>
          <a:xfrm>
            <a:off x="365760" y="4782312"/>
            <a:ext cx="153619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475488" y="4928616"/>
            <a:ext cx="466344" cy="429768"/>
          </a:xfrm>
          <a:prstGeom prst="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cxnSp>
        <p:nvCxnSpPr>
          <p:cNvPr id="336" name="DIMER_ICON_ROBOT_antenna_00"/>
          <p:cNvCxnSpPr/>
          <p:nvPr/>
        </p:nvCxnSpPr>
        <p:spPr>
          <a:xfrm>
            <a:off x="708660" y="4943965"/>
            <a:ext cx="0" cy="69070"/>
          </a:xfrm>
          <a:prstGeom prst="line">
            <a:avLst/>
          </a:prstGeom>
          <a:ln w="10160">
            <a:solidFill>
              <a:srgbClr val="26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DIMER_ICON_ROBOT_antenna_tip_01"/>
          <p:cNvSpPr/>
          <p:nvPr/>
        </p:nvSpPr>
        <p:spPr>
          <a:xfrm>
            <a:off x="684539" y="4928616"/>
            <a:ext cx="48242" cy="46047"/>
          </a:xfrm>
          <a:prstGeom prst="ellipse">
            <a:avLst/>
          </a:prstGeom>
          <a:solidFill>
            <a:srgbClr val="7FB6DB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DIMER_ICON_ROBOT_left_ear_02"/>
          <p:cNvSpPr/>
          <p:nvPr/>
        </p:nvSpPr>
        <p:spPr>
          <a:xfrm>
            <a:off x="499609" y="5082105"/>
            <a:ext cx="72364" cy="138140"/>
          </a:xfrm>
          <a:prstGeom prst="roundRect">
            <a:avLst/>
          </a:prstGeom>
          <a:solidFill>
            <a:srgbClr val="7FB6DB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DIMER_ICON_ROBOT_right_ear_03"/>
          <p:cNvSpPr/>
          <p:nvPr/>
        </p:nvSpPr>
        <p:spPr>
          <a:xfrm>
            <a:off x="845347" y="5082105"/>
            <a:ext cx="72364" cy="138140"/>
          </a:xfrm>
          <a:prstGeom prst="roundRect">
            <a:avLst/>
          </a:prstGeom>
          <a:solidFill>
            <a:srgbClr val="7FB6DB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DIMER_ICON_ROBOT_head_04"/>
          <p:cNvSpPr/>
          <p:nvPr/>
        </p:nvSpPr>
        <p:spPr>
          <a:xfrm>
            <a:off x="547852" y="5005360"/>
            <a:ext cx="321617" cy="26093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DIMER_ICON_ROBOT_forehead_05"/>
          <p:cNvSpPr/>
          <p:nvPr/>
        </p:nvSpPr>
        <p:spPr>
          <a:xfrm>
            <a:off x="596094" y="5028384"/>
            <a:ext cx="225132" cy="61395"/>
          </a:xfrm>
          <a:prstGeom prst="roundRect">
            <a:avLst/>
          </a:prstGeom>
          <a:solidFill>
            <a:srgbClr val="D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DIMER_ICON_ROBOT_visor_06"/>
          <p:cNvSpPr/>
          <p:nvPr/>
        </p:nvSpPr>
        <p:spPr>
          <a:xfrm>
            <a:off x="580013" y="5089779"/>
            <a:ext cx="257293" cy="138140"/>
          </a:xfrm>
          <a:prstGeom prst="roundRect">
            <a:avLst/>
          </a:prstGeom>
          <a:solidFill>
            <a:srgbClr val="A5CEE8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DIMER_ICON_ROBOT_left_eye_07"/>
          <p:cNvSpPr/>
          <p:nvPr/>
        </p:nvSpPr>
        <p:spPr>
          <a:xfrm>
            <a:off x="636296" y="5135826"/>
            <a:ext cx="40202" cy="38372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DIMER_ICON_ROBOT_right_eye_08"/>
          <p:cNvSpPr/>
          <p:nvPr/>
        </p:nvSpPr>
        <p:spPr>
          <a:xfrm>
            <a:off x="740822" y="5135826"/>
            <a:ext cx="40202" cy="38372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DIMER_ICON_ROBOT_left_glint_09"/>
          <p:cNvSpPr/>
          <p:nvPr/>
        </p:nvSpPr>
        <p:spPr>
          <a:xfrm>
            <a:off x="644337" y="5135826"/>
            <a:ext cx="16081" cy="1534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DIMER_ICON_ROBOT_right_glint_10"/>
          <p:cNvSpPr/>
          <p:nvPr/>
        </p:nvSpPr>
        <p:spPr>
          <a:xfrm>
            <a:off x="748862" y="5135826"/>
            <a:ext cx="16081" cy="1534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DIMER_ICON_ROBOT_neck_11"/>
          <p:cNvSpPr/>
          <p:nvPr/>
        </p:nvSpPr>
        <p:spPr>
          <a:xfrm>
            <a:off x="668458" y="5266291"/>
            <a:ext cx="80404" cy="30698"/>
          </a:xfrm>
          <a:prstGeom prst="rect">
            <a:avLst/>
          </a:pr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DIMER_ICON_ROBOT_base_12"/>
          <p:cNvSpPr/>
          <p:nvPr/>
        </p:nvSpPr>
        <p:spPr>
          <a:xfrm>
            <a:off x="612175" y="5296989"/>
            <a:ext cx="192970" cy="46047"/>
          </a:xfrm>
          <a:prstGeom prst="roundRect">
            <a:avLst/>
          </a:pr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 41"/>
          <p:cNvSpPr/>
          <p:nvPr/>
        </p:nvSpPr>
        <p:spPr>
          <a:xfrm>
            <a:off x="1005840" y="4864608"/>
            <a:ext cx="768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候选笔记 A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 A</a:t>
            </a:r>
            <a:endParaRPr lang="en-US" sz="860" dirty="0"/>
          </a:p>
        </p:txBody>
      </p:sp>
      <p:sp>
        <p:nvSpPr>
          <p:cNvPr id="53" name="Text 42"/>
          <p:cNvSpPr/>
          <p:nvPr/>
        </p:nvSpPr>
        <p:spPr>
          <a:xfrm>
            <a:off x="1115568" y="5266944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7.8</a:t>
            </a:r>
            <a:endParaRPr lang="en-US" sz="1750" dirty="0"/>
          </a:p>
        </p:txBody>
      </p:sp>
      <p:sp>
        <p:nvSpPr>
          <p:cNvPr id="54" name="Shape 43"/>
          <p:cNvSpPr/>
          <p:nvPr/>
        </p:nvSpPr>
        <p:spPr>
          <a:xfrm>
            <a:off x="530352" y="5596128"/>
            <a:ext cx="1225296" cy="91440"/>
          </a:xfrm>
          <a:prstGeom prst="roundRect">
            <a:avLst>
              <a:gd name="adj" fmla="val 40000"/>
            </a:avLst>
          </a:prstGeom>
          <a:solidFill>
            <a:srgbClr val="ECECEC"/>
          </a:solidFill>
          <a:ln w="5080">
            <a:solidFill>
              <a:srgbClr val="9CA3AF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530352" y="5596128"/>
            <a:ext cx="1004743" cy="9144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 w="5080">
            <a:solidFill>
              <a:srgbClr val="34A853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2057400" y="4782312"/>
            <a:ext cx="153619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2167128" y="4928616"/>
            <a:ext cx="466344" cy="429768"/>
          </a:xfrm>
          <a:prstGeom prst="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cxnSp>
        <p:nvCxnSpPr>
          <p:cNvPr id="349" name="DIMER_ICON_ROBOT_antenna_00"/>
          <p:cNvCxnSpPr/>
          <p:nvPr/>
        </p:nvCxnSpPr>
        <p:spPr>
          <a:xfrm>
            <a:off x="2400300" y="4943965"/>
            <a:ext cx="0" cy="69070"/>
          </a:xfrm>
          <a:prstGeom prst="line">
            <a:avLst/>
          </a:prstGeom>
          <a:ln w="10160">
            <a:solidFill>
              <a:srgbClr val="26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DIMER_ICON_ROBOT_antenna_tip_01"/>
          <p:cNvSpPr/>
          <p:nvPr/>
        </p:nvSpPr>
        <p:spPr>
          <a:xfrm>
            <a:off x="2376179" y="4928616"/>
            <a:ext cx="48242" cy="46047"/>
          </a:xfrm>
          <a:prstGeom prst="ellipse">
            <a:avLst/>
          </a:prstGeom>
          <a:solidFill>
            <a:srgbClr val="7FB6DB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DIMER_ICON_ROBOT_left_ear_02"/>
          <p:cNvSpPr/>
          <p:nvPr/>
        </p:nvSpPr>
        <p:spPr>
          <a:xfrm>
            <a:off x="2191249" y="5082105"/>
            <a:ext cx="72364" cy="138140"/>
          </a:xfrm>
          <a:prstGeom prst="roundRect">
            <a:avLst/>
          </a:prstGeom>
          <a:solidFill>
            <a:srgbClr val="7FB6DB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DIMER_ICON_ROBOT_right_ear_03"/>
          <p:cNvSpPr/>
          <p:nvPr/>
        </p:nvSpPr>
        <p:spPr>
          <a:xfrm>
            <a:off x="2536987" y="5082105"/>
            <a:ext cx="72364" cy="138140"/>
          </a:xfrm>
          <a:prstGeom prst="roundRect">
            <a:avLst/>
          </a:prstGeom>
          <a:solidFill>
            <a:srgbClr val="7FB6DB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DIMER_ICON_ROBOT_head_04"/>
          <p:cNvSpPr/>
          <p:nvPr/>
        </p:nvSpPr>
        <p:spPr>
          <a:xfrm>
            <a:off x="2239492" y="5005360"/>
            <a:ext cx="321617" cy="26093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DIMER_ICON_ROBOT_forehead_05"/>
          <p:cNvSpPr/>
          <p:nvPr/>
        </p:nvSpPr>
        <p:spPr>
          <a:xfrm>
            <a:off x="2287734" y="5028384"/>
            <a:ext cx="225132" cy="61395"/>
          </a:xfrm>
          <a:prstGeom prst="roundRect">
            <a:avLst/>
          </a:prstGeom>
          <a:solidFill>
            <a:srgbClr val="D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DIMER_ICON_ROBOT_visor_06"/>
          <p:cNvSpPr/>
          <p:nvPr/>
        </p:nvSpPr>
        <p:spPr>
          <a:xfrm>
            <a:off x="2271653" y="5089779"/>
            <a:ext cx="257293" cy="138140"/>
          </a:xfrm>
          <a:prstGeom prst="roundRect">
            <a:avLst/>
          </a:prstGeom>
          <a:solidFill>
            <a:srgbClr val="A5CEE8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DIMER_ICON_ROBOT_left_eye_07"/>
          <p:cNvSpPr/>
          <p:nvPr/>
        </p:nvSpPr>
        <p:spPr>
          <a:xfrm>
            <a:off x="2327936" y="5135826"/>
            <a:ext cx="40202" cy="38372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DIMER_ICON_ROBOT_right_eye_08"/>
          <p:cNvSpPr/>
          <p:nvPr/>
        </p:nvSpPr>
        <p:spPr>
          <a:xfrm>
            <a:off x="2432462" y="5135826"/>
            <a:ext cx="40202" cy="38372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DIMER_ICON_ROBOT_left_glint_09"/>
          <p:cNvSpPr/>
          <p:nvPr/>
        </p:nvSpPr>
        <p:spPr>
          <a:xfrm>
            <a:off x="2335977" y="5135826"/>
            <a:ext cx="16081" cy="1534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DIMER_ICON_ROBOT_right_glint_10"/>
          <p:cNvSpPr/>
          <p:nvPr/>
        </p:nvSpPr>
        <p:spPr>
          <a:xfrm>
            <a:off x="2440502" y="5135826"/>
            <a:ext cx="16081" cy="1534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DIMER_ICON_ROBOT_neck_11"/>
          <p:cNvSpPr/>
          <p:nvPr/>
        </p:nvSpPr>
        <p:spPr>
          <a:xfrm>
            <a:off x="2360098" y="5266291"/>
            <a:ext cx="80404" cy="30698"/>
          </a:xfrm>
          <a:prstGeom prst="rect">
            <a:avLst/>
          </a:pr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DIMER_ICON_ROBOT_base_12"/>
          <p:cNvSpPr/>
          <p:nvPr/>
        </p:nvSpPr>
        <p:spPr>
          <a:xfrm>
            <a:off x="2303815" y="5296989"/>
            <a:ext cx="192970" cy="46047"/>
          </a:xfrm>
          <a:prstGeom prst="roundRect">
            <a:avLst/>
          </a:pr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 47"/>
          <p:cNvSpPr/>
          <p:nvPr/>
        </p:nvSpPr>
        <p:spPr>
          <a:xfrm>
            <a:off x="2697480" y="4864608"/>
            <a:ext cx="768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候选笔记 B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 B</a:t>
            </a:r>
            <a:endParaRPr lang="en-US" sz="860" dirty="0"/>
          </a:p>
        </p:txBody>
      </p:sp>
      <p:sp>
        <p:nvSpPr>
          <p:cNvPr id="60" name="Text 48"/>
          <p:cNvSpPr/>
          <p:nvPr/>
        </p:nvSpPr>
        <p:spPr>
          <a:xfrm>
            <a:off x="2807208" y="5266944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4B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1750" dirty="0"/>
          </a:p>
        </p:txBody>
      </p:sp>
      <p:sp>
        <p:nvSpPr>
          <p:cNvPr id="61" name="Shape 49"/>
          <p:cNvSpPr/>
          <p:nvPr/>
        </p:nvSpPr>
        <p:spPr>
          <a:xfrm>
            <a:off x="2221992" y="5596128"/>
            <a:ext cx="1225296" cy="91440"/>
          </a:xfrm>
          <a:prstGeom prst="roundRect">
            <a:avLst>
              <a:gd name="adj" fmla="val 40000"/>
            </a:avLst>
          </a:prstGeom>
          <a:solidFill>
            <a:srgbClr val="ECECEC"/>
          </a:solidFill>
          <a:ln w="5080">
            <a:solidFill>
              <a:srgbClr val="9CA3AF"/>
            </a:solidFill>
            <a:prstDash val="solid"/>
          </a:ln>
        </p:spPr>
      </p:sp>
      <p:sp>
        <p:nvSpPr>
          <p:cNvPr id="62" name="Shape 50"/>
          <p:cNvSpPr/>
          <p:nvPr/>
        </p:nvSpPr>
        <p:spPr>
          <a:xfrm>
            <a:off x="2221992" y="5596128"/>
            <a:ext cx="673913" cy="91440"/>
          </a:xfrm>
          <a:prstGeom prst="roundRect">
            <a:avLst>
              <a:gd name="adj" fmla="val 40000"/>
            </a:avLst>
          </a:prstGeom>
          <a:solidFill>
            <a:srgbClr val="F4B400"/>
          </a:solidFill>
          <a:ln w="5080">
            <a:solidFill>
              <a:srgbClr val="F4B400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3730752" y="4782312"/>
            <a:ext cx="153619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3840480" y="4928616"/>
            <a:ext cx="466344" cy="429768"/>
          </a:xfrm>
          <a:prstGeom prst="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cxnSp>
        <p:nvCxnSpPr>
          <p:cNvPr id="362" name="DIMER_ICON_ROBOT_antenna_00"/>
          <p:cNvCxnSpPr/>
          <p:nvPr/>
        </p:nvCxnSpPr>
        <p:spPr>
          <a:xfrm>
            <a:off x="4073652" y="4943965"/>
            <a:ext cx="0" cy="69070"/>
          </a:xfrm>
          <a:prstGeom prst="line">
            <a:avLst/>
          </a:prstGeom>
          <a:ln w="10160">
            <a:solidFill>
              <a:srgbClr val="26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DIMER_ICON_ROBOT_antenna_tip_01"/>
          <p:cNvSpPr/>
          <p:nvPr/>
        </p:nvSpPr>
        <p:spPr>
          <a:xfrm>
            <a:off x="4049531" y="4928616"/>
            <a:ext cx="48242" cy="46047"/>
          </a:xfrm>
          <a:prstGeom prst="ellipse">
            <a:avLst/>
          </a:prstGeom>
          <a:solidFill>
            <a:srgbClr val="7FB6DB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DIMER_ICON_ROBOT_left_ear_02"/>
          <p:cNvSpPr/>
          <p:nvPr/>
        </p:nvSpPr>
        <p:spPr>
          <a:xfrm>
            <a:off x="3864601" y="5082105"/>
            <a:ext cx="72364" cy="138140"/>
          </a:xfrm>
          <a:prstGeom prst="roundRect">
            <a:avLst/>
          </a:prstGeom>
          <a:solidFill>
            <a:srgbClr val="7FB6DB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DIMER_ICON_ROBOT_right_ear_03"/>
          <p:cNvSpPr/>
          <p:nvPr/>
        </p:nvSpPr>
        <p:spPr>
          <a:xfrm>
            <a:off x="4210339" y="5082105"/>
            <a:ext cx="72364" cy="138140"/>
          </a:xfrm>
          <a:prstGeom prst="roundRect">
            <a:avLst/>
          </a:prstGeom>
          <a:solidFill>
            <a:srgbClr val="7FB6DB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DIMER_ICON_ROBOT_head_04"/>
          <p:cNvSpPr/>
          <p:nvPr/>
        </p:nvSpPr>
        <p:spPr>
          <a:xfrm>
            <a:off x="3912844" y="5005360"/>
            <a:ext cx="321617" cy="26093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DIMER_ICON_ROBOT_forehead_05"/>
          <p:cNvSpPr/>
          <p:nvPr/>
        </p:nvSpPr>
        <p:spPr>
          <a:xfrm>
            <a:off x="3961086" y="5028384"/>
            <a:ext cx="225132" cy="61395"/>
          </a:xfrm>
          <a:prstGeom prst="roundRect">
            <a:avLst/>
          </a:prstGeom>
          <a:solidFill>
            <a:srgbClr val="D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DIMER_ICON_ROBOT_visor_06"/>
          <p:cNvSpPr/>
          <p:nvPr/>
        </p:nvSpPr>
        <p:spPr>
          <a:xfrm>
            <a:off x="3945005" y="5089779"/>
            <a:ext cx="257293" cy="138140"/>
          </a:xfrm>
          <a:prstGeom prst="roundRect">
            <a:avLst/>
          </a:prstGeom>
          <a:solidFill>
            <a:srgbClr val="A5CEE8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DIMER_ICON_ROBOT_left_eye_07"/>
          <p:cNvSpPr/>
          <p:nvPr/>
        </p:nvSpPr>
        <p:spPr>
          <a:xfrm>
            <a:off x="4001288" y="5135826"/>
            <a:ext cx="40202" cy="38372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DIMER_ICON_ROBOT_right_eye_08"/>
          <p:cNvSpPr/>
          <p:nvPr/>
        </p:nvSpPr>
        <p:spPr>
          <a:xfrm>
            <a:off x="4105814" y="5135826"/>
            <a:ext cx="40202" cy="38372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DIMER_ICON_ROBOT_left_glint_09"/>
          <p:cNvSpPr/>
          <p:nvPr/>
        </p:nvSpPr>
        <p:spPr>
          <a:xfrm>
            <a:off x="4009329" y="5135826"/>
            <a:ext cx="16081" cy="1534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DIMER_ICON_ROBOT_right_glint_10"/>
          <p:cNvSpPr/>
          <p:nvPr/>
        </p:nvSpPr>
        <p:spPr>
          <a:xfrm>
            <a:off x="4113854" y="5135826"/>
            <a:ext cx="16081" cy="1534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DIMER_ICON_ROBOT_neck_11"/>
          <p:cNvSpPr/>
          <p:nvPr/>
        </p:nvSpPr>
        <p:spPr>
          <a:xfrm>
            <a:off x="4033450" y="5266291"/>
            <a:ext cx="80404" cy="30698"/>
          </a:xfrm>
          <a:prstGeom prst="rect">
            <a:avLst/>
          </a:pr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DIMER_ICON_ROBOT_base_12"/>
          <p:cNvSpPr/>
          <p:nvPr/>
        </p:nvSpPr>
        <p:spPr>
          <a:xfrm>
            <a:off x="3977167" y="5296989"/>
            <a:ext cx="192970" cy="46047"/>
          </a:xfrm>
          <a:prstGeom prst="roundRect">
            <a:avLst/>
          </a:pr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 53"/>
          <p:cNvSpPr/>
          <p:nvPr/>
        </p:nvSpPr>
        <p:spPr>
          <a:xfrm>
            <a:off x="4370832" y="4864608"/>
            <a:ext cx="768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候选笔记 C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 C</a:t>
            </a:r>
            <a:endParaRPr lang="en-US" sz="860" dirty="0"/>
          </a:p>
        </p:txBody>
      </p:sp>
      <p:sp>
        <p:nvSpPr>
          <p:cNvPr id="67" name="Text 54"/>
          <p:cNvSpPr/>
          <p:nvPr/>
        </p:nvSpPr>
        <p:spPr>
          <a:xfrm>
            <a:off x="4480560" y="5266944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A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750" dirty="0"/>
          </a:p>
        </p:txBody>
      </p:sp>
      <p:sp>
        <p:nvSpPr>
          <p:cNvPr id="68" name="Shape 55"/>
          <p:cNvSpPr/>
          <p:nvPr/>
        </p:nvSpPr>
        <p:spPr>
          <a:xfrm>
            <a:off x="3895344" y="5596128"/>
            <a:ext cx="1225296" cy="91440"/>
          </a:xfrm>
          <a:prstGeom prst="roundRect">
            <a:avLst>
              <a:gd name="adj" fmla="val 40000"/>
            </a:avLst>
          </a:prstGeom>
          <a:solidFill>
            <a:srgbClr val="ECECEC"/>
          </a:solidFill>
          <a:ln w="5080">
            <a:solidFill>
              <a:srgbClr val="9CA3AF"/>
            </a:solidFill>
            <a:prstDash val="solid"/>
          </a:ln>
        </p:spPr>
      </p:sp>
      <p:sp>
        <p:nvSpPr>
          <p:cNvPr id="69" name="Shape 56"/>
          <p:cNvSpPr/>
          <p:nvPr/>
        </p:nvSpPr>
        <p:spPr>
          <a:xfrm>
            <a:off x="3895344" y="5596128"/>
            <a:ext cx="441107" cy="9144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 w="5080">
            <a:solidFill>
              <a:srgbClr val="EA4335"/>
            </a:solidFill>
            <a:prstDash val="solid"/>
          </a:ln>
        </p:spPr>
      </p:sp>
      <p:sp>
        <p:nvSpPr>
          <p:cNvPr id="70" name="Shape 57"/>
          <p:cNvSpPr/>
          <p:nvPr/>
        </p:nvSpPr>
        <p:spPr>
          <a:xfrm>
            <a:off x="2606040" y="5815584"/>
            <a:ext cx="256032" cy="347472"/>
          </a:xfrm>
          <a:prstGeom prst="downArrow">
            <a:avLst/>
          </a:prstGeom>
          <a:solidFill>
            <a:srgbClr val="1E88D8"/>
          </a:solidFill>
          <a:ln w="12700">
            <a:solidFill>
              <a:srgbClr val="1E88D8">
                <a:alpha val="0"/>
              </a:srgbClr>
            </a:solidFill>
            <a:prstDash val="solid"/>
          </a:ln>
        </p:spPr>
      </p:sp>
      <p:sp>
        <p:nvSpPr>
          <p:cNvPr id="71" name="Shape 58"/>
          <p:cNvSpPr/>
          <p:nvPr/>
        </p:nvSpPr>
        <p:spPr>
          <a:xfrm>
            <a:off x="1207008" y="6199632"/>
            <a:ext cx="3127248" cy="896112"/>
          </a:xfrm>
          <a:prstGeom prst="roundRect">
            <a:avLst>
              <a:gd name="adj" fmla="val 8163"/>
            </a:avLst>
          </a:prstGeom>
          <a:solidFill>
            <a:srgbClr val="F9FCFF"/>
          </a:solidFill>
          <a:ln w="13970">
            <a:solidFill>
              <a:srgbClr val="102A63"/>
            </a:solidFill>
            <a:prstDash val="solid"/>
          </a:ln>
        </p:spPr>
      </p:sp>
      <p:sp>
        <p:nvSpPr>
          <p:cNvPr id="72" name="Shape 59"/>
          <p:cNvSpPr/>
          <p:nvPr/>
        </p:nvSpPr>
        <p:spPr>
          <a:xfrm>
            <a:off x="1335024" y="6291072"/>
            <a:ext cx="713232" cy="621792"/>
          </a:xfrm>
          <a:prstGeom prst="rect">
            <a:avLst>
              <a:gd name="adj" fmla="val 11765"/>
            </a:avLst>
          </a:prstGeom>
          <a:solidFill>
            <a:srgbClr val="F9FCFF"/>
          </a:solidFill>
          <a:ln w="12700">
            <a:solidFill>
              <a:srgbClr val="F9FCFF"/>
            </a:solidFill>
            <a:prstDash val="solid"/>
          </a:ln>
        </p:spPr>
      </p:sp>
      <p:sp>
        <p:nvSpPr>
          <p:cNvPr id="36" name="DIMER_ICON_BEST_DOC_CHECK_best_note_00"/>
          <p:cNvSpPr/>
          <p:nvPr/>
        </p:nvSpPr>
        <p:spPr>
          <a:xfrm>
            <a:off x="1395725" y="6316980"/>
            <a:ext cx="478017" cy="569976"/>
          </a:xfrm>
          <a:custGeom>
            <a:avLst/>
            <a:gdLst/>
            <a:ahLst/>
            <a:cxnLst/>
            <a:rect l="l" t="t" r="r" b="b"/>
            <a:pathLst>
              <a:path w="63" h="66">
                <a:moveTo>
                  <a:pt x="0" y="0"/>
                </a:moveTo>
                <a:lnTo>
                  <a:pt x="49" y="0"/>
                </a:lnTo>
                <a:lnTo>
                  <a:pt x="63" y="14"/>
                </a:lnTo>
                <a:lnTo>
                  <a:pt x="63" y="66"/>
                </a:lnTo>
                <a:lnTo>
                  <a:pt x="0" y="66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IMER_ICON_BEST_DOC_CHECK_best_note_fold_01"/>
          <p:cNvSpPr/>
          <p:nvPr/>
        </p:nvSpPr>
        <p:spPr>
          <a:xfrm>
            <a:off x="1767516" y="6316980"/>
            <a:ext cx="106226" cy="120904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0" y="0"/>
                </a:moveTo>
                <a:lnTo>
                  <a:pt x="0" y="14"/>
                </a:lnTo>
                <a:lnTo>
                  <a:pt x="14" y="14"/>
                </a:lnTo>
                <a:close/>
              </a:path>
            </a:pathLst>
          </a:cu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5" name="DIMER_ICON_BEST_DOC_CHECK_best_note_rule_02"/>
          <p:cNvCxnSpPr/>
          <p:nvPr/>
        </p:nvCxnSpPr>
        <p:spPr>
          <a:xfrm>
            <a:off x="1486548" y="6562070"/>
            <a:ext cx="282030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DIMER_ICON_BEST_DOC_CHECK_best_note_rule_03"/>
          <p:cNvCxnSpPr/>
          <p:nvPr/>
        </p:nvCxnSpPr>
        <p:spPr>
          <a:xfrm>
            <a:off x="1486548" y="6647566"/>
            <a:ext cx="282030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DIMER_ICON_BEST_DOC_CHECK_best_note_rule_04"/>
          <p:cNvCxnSpPr/>
          <p:nvPr/>
        </p:nvCxnSpPr>
        <p:spPr>
          <a:xfrm>
            <a:off x="1486548" y="6733062"/>
            <a:ext cx="282030" cy="0"/>
          </a:xfrm>
          <a:prstGeom prst="line">
            <a:avLst/>
          </a:prstGeom>
          <a:ln w="8890">
            <a:solidFill>
              <a:srgbClr val="7FB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DIMER_ICON_BEST_DOC_CHECK_check_badge_05"/>
          <p:cNvSpPr/>
          <p:nvPr/>
        </p:nvSpPr>
        <p:spPr>
          <a:xfrm>
            <a:off x="1721990" y="6610604"/>
            <a:ext cx="280740" cy="319532"/>
          </a:xfrm>
          <a:prstGeom prst="ellipse">
            <a:avLst/>
          </a:prstGeom>
          <a:solidFill>
            <a:srgbClr val="68BE7A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9" name="DIMER_ICON_BEST_DOC_CHECK_check_short_06"/>
          <p:cNvCxnSpPr/>
          <p:nvPr/>
        </p:nvCxnSpPr>
        <p:spPr>
          <a:xfrm>
            <a:off x="1778138" y="6776761"/>
            <a:ext cx="58956" cy="63906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DIMER_ICON_BEST_DOC_CHECK_check_long_07"/>
          <p:cNvCxnSpPr/>
          <p:nvPr/>
        </p:nvCxnSpPr>
        <p:spPr>
          <a:xfrm flipV="1">
            <a:off x="1837094" y="6696878"/>
            <a:ext cx="115103" cy="143789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 60"/>
          <p:cNvSpPr/>
          <p:nvPr/>
        </p:nvSpPr>
        <p:spPr>
          <a:xfrm>
            <a:off x="2267712" y="6355080"/>
            <a:ext cx="1097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最佳笔记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Best-of-N</a:t>
            </a:r>
            <a:endParaRPr lang="en-US" sz="1480" dirty="0"/>
          </a:p>
        </p:txBody>
      </p:sp>
      <p:sp>
        <p:nvSpPr>
          <p:cNvPr id="75" name="Shape 61"/>
          <p:cNvSpPr/>
          <p:nvPr/>
        </p:nvSpPr>
        <p:spPr>
          <a:xfrm>
            <a:off x="3593592" y="6300216"/>
            <a:ext cx="539496" cy="585216"/>
          </a:xfrm>
          <a:prstGeom prst="rect">
            <a:avLst>
              <a:gd name="adj" fmla="val 13559"/>
            </a:avLst>
          </a:prstGeom>
          <a:solidFill>
            <a:srgbClr val="F9FCFF"/>
          </a:solidFill>
          <a:ln w="12700">
            <a:solidFill>
              <a:srgbClr val="F9FCFF"/>
            </a:solidFill>
            <a:prstDash val="solid"/>
          </a:ln>
        </p:spPr>
      </p:sp>
      <p:sp>
        <p:nvSpPr>
          <p:cNvPr id="381" name="DIMER_ICON_TROPHY_left_handle_00"/>
          <p:cNvSpPr/>
          <p:nvPr/>
        </p:nvSpPr>
        <p:spPr>
          <a:xfrm>
            <a:off x="3614888" y="6373368"/>
            <a:ext cx="127775" cy="186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DIMER_ICON_TROPHY_right_handle_01"/>
          <p:cNvSpPr/>
          <p:nvPr/>
        </p:nvSpPr>
        <p:spPr>
          <a:xfrm>
            <a:off x="3984017" y="6373368"/>
            <a:ext cx="127775" cy="186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IMER_ICON_TROPHY_cup_02"/>
          <p:cNvSpPr/>
          <p:nvPr/>
        </p:nvSpPr>
        <p:spPr>
          <a:xfrm>
            <a:off x="3707170" y="6348984"/>
            <a:ext cx="312340" cy="276352"/>
          </a:xfrm>
          <a:custGeom>
            <a:avLst/>
            <a:gdLst/>
            <a:ahLst/>
            <a:cxnLst/>
            <a:rect l="l" t="t" r="r" b="b"/>
            <a:pathLst>
              <a:path w="44" h="34">
                <a:moveTo>
                  <a:pt x="0" y="0"/>
                </a:moveTo>
                <a:lnTo>
                  <a:pt x="44" y="0"/>
                </a:lnTo>
                <a:lnTo>
                  <a:pt x="41" y="20"/>
                </a:lnTo>
                <a:lnTo>
                  <a:pt x="36" y="29"/>
                </a:lnTo>
                <a:lnTo>
                  <a:pt x="28" y="34"/>
                </a:lnTo>
                <a:lnTo>
                  <a:pt x="16" y="34"/>
                </a:lnTo>
                <a:lnTo>
                  <a:pt x="7" y="29"/>
                </a:lnTo>
                <a:lnTo>
                  <a:pt x="3" y="20"/>
                </a:lnTo>
                <a:close/>
              </a:path>
            </a:pathLst>
          </a:custGeom>
          <a:solidFill>
            <a:srgbClr val="F5BF27"/>
          </a:solidFill>
          <a:ln w="1270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DIMER_ICON_TROPHY_rim_03"/>
          <p:cNvSpPr/>
          <p:nvPr/>
        </p:nvSpPr>
        <p:spPr>
          <a:xfrm>
            <a:off x="3700071" y="6332728"/>
            <a:ext cx="326537" cy="56896"/>
          </a:xfrm>
          <a:prstGeom prst="roundRect">
            <a:avLst/>
          </a:prstGeom>
          <a:solidFill>
            <a:srgbClr val="FFE47A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DIMER_ICON_TROPHY_stem_04"/>
          <p:cNvSpPr/>
          <p:nvPr/>
        </p:nvSpPr>
        <p:spPr>
          <a:xfrm>
            <a:off x="3827847" y="6617208"/>
            <a:ext cx="70986" cy="105664"/>
          </a:xfrm>
          <a:prstGeom prst="rect">
            <a:avLst/>
          </a:prstGeom>
          <a:solidFill>
            <a:srgbClr val="F5BF27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DIMER_ICON_TROPHY_foot_05"/>
          <p:cNvSpPr/>
          <p:nvPr/>
        </p:nvSpPr>
        <p:spPr>
          <a:xfrm>
            <a:off x="3749762" y="6714744"/>
            <a:ext cx="227156" cy="48768"/>
          </a:xfrm>
          <a:prstGeom prst="roundRect">
            <a:avLst/>
          </a:prstGeom>
          <a:solidFill>
            <a:srgbClr val="FFE47A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DIMER_ICON_TROPHY_base_06"/>
          <p:cNvSpPr/>
          <p:nvPr/>
        </p:nvSpPr>
        <p:spPr>
          <a:xfrm>
            <a:off x="3707170" y="6763512"/>
            <a:ext cx="312340" cy="73152"/>
          </a:xfrm>
          <a:prstGeom prst="roundRect">
            <a:avLst/>
          </a:prstGeom>
          <a:solidFill>
            <a:srgbClr val="F5BF27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IMER_ICON_TROPHY_star_07"/>
          <p:cNvSpPr/>
          <p:nvPr/>
        </p:nvSpPr>
        <p:spPr>
          <a:xfrm>
            <a:off x="3813650" y="6414008"/>
            <a:ext cx="99381" cy="113792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7" y="0"/>
                </a:moveTo>
                <a:lnTo>
                  <a:pt x="9" y="5"/>
                </a:lnTo>
                <a:lnTo>
                  <a:pt x="14" y="5"/>
                </a:lnTo>
                <a:lnTo>
                  <a:pt x="10" y="9"/>
                </a:lnTo>
                <a:lnTo>
                  <a:pt x="12" y="14"/>
                </a:lnTo>
                <a:lnTo>
                  <a:pt x="7" y="11"/>
                </a:lnTo>
                <a:lnTo>
                  <a:pt x="2" y="14"/>
                </a:lnTo>
                <a:lnTo>
                  <a:pt x="4" y="9"/>
                </a:lnTo>
                <a:lnTo>
                  <a:pt x="0" y="5"/>
                </a:lnTo>
                <a:lnTo>
                  <a:pt x="5" y="5"/>
                </a:lnTo>
                <a:close/>
              </a:path>
            </a:pathLst>
          </a:custGeom>
          <a:solidFill>
            <a:srgbClr val="C88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 62"/>
          <p:cNvSpPr/>
          <p:nvPr/>
        </p:nvSpPr>
        <p:spPr>
          <a:xfrm>
            <a:off x="5870448" y="960120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1C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Step Decomposition  步骤拆解</a:t>
            </a:r>
            <a:endParaRPr lang="en-US" sz="1300" dirty="0"/>
          </a:p>
        </p:txBody>
      </p:sp>
      <p:sp>
        <p:nvSpPr>
          <p:cNvPr id="78" name="Shape 63"/>
          <p:cNvSpPr/>
          <p:nvPr/>
        </p:nvSpPr>
        <p:spPr>
          <a:xfrm>
            <a:off x="5852160" y="1426464"/>
            <a:ext cx="1463040" cy="1627632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0160">
            <a:solidFill>
              <a:srgbClr val="B0B0B0"/>
            </a:solidFill>
            <a:prstDash val="solid"/>
          </a:ln>
        </p:spPr>
      </p:sp>
      <p:sp>
        <p:nvSpPr>
          <p:cNvPr id="79" name="Text 64"/>
          <p:cNvSpPr/>
          <p:nvPr/>
        </p:nvSpPr>
        <p:spPr>
          <a:xfrm>
            <a:off x="5961888" y="1517904"/>
            <a:ext cx="12435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临床笔记 Clinical Note</a:t>
            </a:r>
            <a:endParaRPr lang="en-US" sz="750" dirty="0"/>
          </a:p>
        </p:txBody>
      </p:sp>
      <p:sp>
        <p:nvSpPr>
          <p:cNvPr id="80" name="Shape 65"/>
          <p:cNvSpPr/>
          <p:nvPr/>
        </p:nvSpPr>
        <p:spPr>
          <a:xfrm>
            <a:off x="6080760" y="1792224"/>
            <a:ext cx="987552" cy="117043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1" name="Shape 66"/>
          <p:cNvSpPr/>
          <p:nvPr/>
        </p:nvSpPr>
        <p:spPr>
          <a:xfrm>
            <a:off x="6812280" y="1792224"/>
            <a:ext cx="256032" cy="256032"/>
          </a:xfrm>
          <a:prstGeom prst="rtTriangle">
            <a:avLst/>
          </a:prstGeom>
          <a:solidFill>
            <a:srgbClr val="F4F7FB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82" name="Shape 67"/>
          <p:cNvSpPr/>
          <p:nvPr/>
        </p:nvSpPr>
        <p:spPr>
          <a:xfrm>
            <a:off x="6245352" y="2093976"/>
            <a:ext cx="658368" cy="914"/>
          </a:xfrm>
          <a:prstGeom prst="line">
            <a:avLst/>
          </a:prstGeom>
          <a:noFill/>
          <a:ln w="13970">
            <a:solidFill>
              <a:srgbClr val="BDBDBD"/>
            </a:solidFill>
            <a:prstDash val="solid"/>
          </a:ln>
        </p:spPr>
      </p:sp>
      <p:sp>
        <p:nvSpPr>
          <p:cNvPr id="83" name="Shape 68"/>
          <p:cNvSpPr/>
          <p:nvPr/>
        </p:nvSpPr>
        <p:spPr>
          <a:xfrm>
            <a:off x="6245352" y="2276856"/>
            <a:ext cx="658368" cy="914"/>
          </a:xfrm>
          <a:prstGeom prst="line">
            <a:avLst/>
          </a:prstGeom>
          <a:noFill/>
          <a:ln w="13970">
            <a:solidFill>
              <a:srgbClr val="BDBDBD"/>
            </a:solidFill>
            <a:prstDash val="solid"/>
          </a:ln>
        </p:spPr>
      </p:sp>
      <p:sp>
        <p:nvSpPr>
          <p:cNvPr id="84" name="Shape 69"/>
          <p:cNvSpPr/>
          <p:nvPr/>
        </p:nvSpPr>
        <p:spPr>
          <a:xfrm>
            <a:off x="6245352" y="2459736"/>
            <a:ext cx="658368" cy="914"/>
          </a:xfrm>
          <a:prstGeom prst="line">
            <a:avLst/>
          </a:prstGeom>
          <a:noFill/>
          <a:ln w="13970">
            <a:solidFill>
              <a:srgbClr val="BDBDBD"/>
            </a:solidFill>
            <a:prstDash val="solid"/>
          </a:ln>
        </p:spPr>
      </p:sp>
      <p:sp>
        <p:nvSpPr>
          <p:cNvPr id="85" name="Shape 70"/>
          <p:cNvSpPr/>
          <p:nvPr/>
        </p:nvSpPr>
        <p:spPr>
          <a:xfrm>
            <a:off x="6236208" y="1947672"/>
            <a:ext cx="411480" cy="64008"/>
          </a:xfrm>
          <a:prstGeom prst="roundRect">
            <a:avLst>
              <a:gd name="adj" fmla="val 28571"/>
            </a:avLst>
          </a:prstGeom>
          <a:solidFill>
            <a:srgbClr val="F8B9BD"/>
          </a:solidFill>
          <a:ln w="12700">
            <a:solidFill>
              <a:srgbClr val="F8B9BD"/>
            </a:solidFill>
            <a:prstDash val="solid"/>
          </a:ln>
        </p:spPr>
      </p:sp>
      <p:sp>
        <p:nvSpPr>
          <p:cNvPr id="86" name="Shape 71"/>
          <p:cNvSpPr/>
          <p:nvPr/>
        </p:nvSpPr>
        <p:spPr>
          <a:xfrm>
            <a:off x="6236208" y="2112264"/>
            <a:ext cx="713232" cy="64008"/>
          </a:xfrm>
          <a:prstGeom prst="roundRect">
            <a:avLst>
              <a:gd name="adj" fmla="val 28571"/>
            </a:avLst>
          </a:prstGeom>
          <a:solidFill>
            <a:srgbClr val="F8B9BD"/>
          </a:solidFill>
          <a:ln w="12700">
            <a:solidFill>
              <a:srgbClr val="F8B9BD"/>
            </a:solidFill>
            <a:prstDash val="solid"/>
          </a:ln>
        </p:spPr>
      </p:sp>
      <p:sp>
        <p:nvSpPr>
          <p:cNvPr id="87" name="Shape 72"/>
          <p:cNvSpPr/>
          <p:nvPr/>
        </p:nvSpPr>
        <p:spPr>
          <a:xfrm>
            <a:off x="6236208" y="2276856"/>
            <a:ext cx="713232" cy="64008"/>
          </a:xfrm>
          <a:prstGeom prst="roundRect">
            <a:avLst>
              <a:gd name="adj" fmla="val 28571"/>
            </a:avLst>
          </a:prstGeom>
          <a:solidFill>
            <a:srgbClr val="FFE58A"/>
          </a:solidFill>
          <a:ln w="12700">
            <a:solidFill>
              <a:srgbClr val="FFE58A"/>
            </a:solidFill>
            <a:prstDash val="solid"/>
          </a:ln>
        </p:spPr>
      </p:sp>
      <p:sp>
        <p:nvSpPr>
          <p:cNvPr id="88" name="Shape 73"/>
          <p:cNvSpPr/>
          <p:nvPr/>
        </p:nvSpPr>
        <p:spPr>
          <a:xfrm>
            <a:off x="6236208" y="2441448"/>
            <a:ext cx="713232" cy="64008"/>
          </a:xfrm>
          <a:prstGeom prst="roundRect">
            <a:avLst>
              <a:gd name="adj" fmla="val 28571"/>
            </a:avLst>
          </a:prstGeom>
          <a:solidFill>
            <a:srgbClr val="A8D5A2"/>
          </a:solidFill>
          <a:ln w="12700">
            <a:solidFill>
              <a:srgbClr val="A8D5A2"/>
            </a:solidFill>
            <a:prstDash val="solid"/>
          </a:ln>
        </p:spPr>
      </p:sp>
      <p:sp>
        <p:nvSpPr>
          <p:cNvPr id="89" name="Shape 74"/>
          <p:cNvSpPr/>
          <p:nvPr/>
        </p:nvSpPr>
        <p:spPr>
          <a:xfrm>
            <a:off x="6236208" y="2606040"/>
            <a:ext cx="713232" cy="64008"/>
          </a:xfrm>
          <a:prstGeom prst="roundRect">
            <a:avLst>
              <a:gd name="adj" fmla="val 28571"/>
            </a:avLst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0" name="Text 75"/>
          <p:cNvSpPr/>
          <p:nvPr/>
        </p:nvSpPr>
        <p:spPr>
          <a:xfrm>
            <a:off x="7452360" y="2048256"/>
            <a:ext cx="4754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Decompose</a:t>
            </a:r>
            <a:endParaRPr lang="en-US" sz="800" dirty="0"/>
          </a:p>
        </p:txBody>
      </p:sp>
      <p:sp>
        <p:nvSpPr>
          <p:cNvPr id="91" name="Shape 76"/>
          <p:cNvSpPr/>
          <p:nvPr/>
        </p:nvSpPr>
        <p:spPr>
          <a:xfrm>
            <a:off x="7653528" y="2267712"/>
            <a:ext cx="320040" cy="201168"/>
          </a:xfrm>
          <a:prstGeom prst="rightArrow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92" name="Shape 77"/>
          <p:cNvSpPr/>
          <p:nvPr/>
        </p:nvSpPr>
        <p:spPr>
          <a:xfrm>
            <a:off x="8001000" y="1280160"/>
            <a:ext cx="1627632" cy="1920240"/>
          </a:xfrm>
          <a:prstGeom prst="roundRect">
            <a:avLst>
              <a:gd name="adj" fmla="val 5056"/>
            </a:avLst>
          </a:prstGeom>
          <a:solidFill>
            <a:srgbClr val="FBFBFB"/>
          </a:solidFill>
          <a:ln w="10160">
            <a:solidFill>
              <a:srgbClr val="B0B0B0"/>
            </a:solidFill>
            <a:prstDash val="solid"/>
          </a:ln>
        </p:spPr>
      </p:sp>
      <p:sp>
        <p:nvSpPr>
          <p:cNvPr id="93" name="Text 78"/>
          <p:cNvSpPr/>
          <p:nvPr/>
        </p:nvSpPr>
        <p:spPr>
          <a:xfrm>
            <a:off x="8229600" y="1371600"/>
            <a:ext cx="11704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步骤图 Step Graph</a:t>
            </a:r>
            <a:endParaRPr lang="en-US" sz="840" dirty="0"/>
          </a:p>
        </p:txBody>
      </p:sp>
      <p:sp>
        <p:nvSpPr>
          <p:cNvPr id="94" name="Shape 79"/>
          <p:cNvSpPr/>
          <p:nvPr/>
        </p:nvSpPr>
        <p:spPr>
          <a:xfrm flipH="1">
            <a:off x="8375904" y="1792224"/>
            <a:ext cx="274320" cy="246888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</a:ln>
        </p:spPr>
      </p:sp>
      <p:sp>
        <p:nvSpPr>
          <p:cNvPr id="95" name="Shape 80"/>
          <p:cNvSpPr/>
          <p:nvPr/>
        </p:nvSpPr>
        <p:spPr>
          <a:xfrm>
            <a:off x="8375904" y="2112264"/>
            <a:ext cx="914" cy="292608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</a:ln>
        </p:spPr>
      </p:sp>
      <p:sp>
        <p:nvSpPr>
          <p:cNvPr id="96" name="Shape 81"/>
          <p:cNvSpPr/>
          <p:nvPr/>
        </p:nvSpPr>
        <p:spPr>
          <a:xfrm>
            <a:off x="8375904" y="2478024"/>
            <a:ext cx="914" cy="292608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</a:ln>
        </p:spPr>
      </p:sp>
      <p:sp>
        <p:nvSpPr>
          <p:cNvPr id="97" name="Shape 82"/>
          <p:cNvSpPr/>
          <p:nvPr/>
        </p:nvSpPr>
        <p:spPr>
          <a:xfrm>
            <a:off x="8375904" y="2843784"/>
            <a:ext cx="274320" cy="201168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</a:ln>
        </p:spPr>
      </p:sp>
      <p:sp>
        <p:nvSpPr>
          <p:cNvPr id="98" name="Shape 83"/>
          <p:cNvSpPr/>
          <p:nvPr/>
        </p:nvSpPr>
        <p:spPr>
          <a:xfrm>
            <a:off x="8558784" y="1609344"/>
            <a:ext cx="182880" cy="182880"/>
          </a:xfrm>
          <a:prstGeom prst="ellipse">
            <a:avLst/>
          </a:prstGeom>
          <a:solidFill>
            <a:srgbClr val="BBDCF7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99" name="Shape 84"/>
          <p:cNvSpPr/>
          <p:nvPr/>
        </p:nvSpPr>
        <p:spPr>
          <a:xfrm>
            <a:off x="8284464" y="1929384"/>
            <a:ext cx="182880" cy="182880"/>
          </a:xfrm>
          <a:prstGeom prst="ellipse">
            <a:avLst/>
          </a:prstGeom>
          <a:solidFill>
            <a:srgbClr val="BEE4BF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00" name="Shape 85"/>
          <p:cNvSpPr/>
          <p:nvPr/>
        </p:nvSpPr>
        <p:spPr>
          <a:xfrm>
            <a:off x="8284464" y="2295144"/>
            <a:ext cx="182880" cy="182880"/>
          </a:xfrm>
          <a:prstGeom prst="ellipse">
            <a:avLst/>
          </a:prstGeom>
          <a:solidFill>
            <a:srgbClr val="FFE29B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01" name="Shape 86"/>
          <p:cNvSpPr/>
          <p:nvPr/>
        </p:nvSpPr>
        <p:spPr>
          <a:xfrm>
            <a:off x="8284464" y="2660904"/>
            <a:ext cx="182880" cy="182880"/>
          </a:xfrm>
          <a:prstGeom prst="ellipse">
            <a:avLst/>
          </a:prstGeom>
          <a:solidFill>
            <a:srgbClr val="D8C5F0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02" name="Shape 87"/>
          <p:cNvSpPr/>
          <p:nvPr/>
        </p:nvSpPr>
        <p:spPr>
          <a:xfrm>
            <a:off x="8558784" y="2935224"/>
            <a:ext cx="182880" cy="182880"/>
          </a:xfrm>
          <a:prstGeom prst="ellipse">
            <a:avLst/>
          </a:prstGeom>
          <a:solidFill>
            <a:srgbClr val="E5E5E5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03" name="Shape 88"/>
          <p:cNvSpPr/>
          <p:nvPr/>
        </p:nvSpPr>
        <p:spPr>
          <a:xfrm>
            <a:off x="9144000" y="1591056"/>
            <a:ext cx="731520" cy="914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04" name="Shape 89"/>
          <p:cNvSpPr/>
          <p:nvPr/>
        </p:nvSpPr>
        <p:spPr>
          <a:xfrm>
            <a:off x="9838944" y="1444752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DDEBF7"/>
          </a:solidFill>
          <a:ln w="8890">
            <a:solidFill>
              <a:srgbClr val="7D8DA1"/>
            </a:solidFill>
            <a:prstDash val="solid"/>
          </a:ln>
        </p:spPr>
      </p:sp>
      <p:sp>
        <p:nvSpPr>
          <p:cNvPr id="105" name="Text 90"/>
          <p:cNvSpPr/>
          <p:nvPr/>
        </p:nvSpPr>
        <p:spPr>
          <a:xfrm>
            <a:off x="9921240" y="1476756"/>
            <a:ext cx="14447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Problem（问题）</a:t>
            </a:r>
            <a:endParaRPr lang="en-US" sz="710" dirty="0"/>
          </a:p>
        </p:txBody>
      </p:sp>
      <p:sp>
        <p:nvSpPr>
          <p:cNvPr id="106" name="Shape 91"/>
          <p:cNvSpPr/>
          <p:nvPr/>
        </p:nvSpPr>
        <p:spPr>
          <a:xfrm>
            <a:off x="11558016" y="1508760"/>
            <a:ext cx="146304" cy="146304"/>
          </a:xfrm>
          <a:prstGeom prst="ellipse">
            <a:avLst/>
          </a:prstGeom>
          <a:solidFill>
            <a:srgbClr val="DFF4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7" name="Shape 92"/>
          <p:cNvSpPr/>
          <p:nvPr/>
        </p:nvSpPr>
        <p:spPr>
          <a:xfrm>
            <a:off x="11686032" y="1636776"/>
            <a:ext cx="109728" cy="109728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</a:ln>
        </p:spPr>
      </p:sp>
      <p:sp>
        <p:nvSpPr>
          <p:cNvPr id="108" name="Shape 93"/>
          <p:cNvSpPr/>
          <p:nvPr/>
        </p:nvSpPr>
        <p:spPr>
          <a:xfrm>
            <a:off x="9144000" y="2002536"/>
            <a:ext cx="731520" cy="914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09" name="Shape 94"/>
          <p:cNvSpPr/>
          <p:nvPr/>
        </p:nvSpPr>
        <p:spPr>
          <a:xfrm>
            <a:off x="9838944" y="1856232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D8F0D7"/>
          </a:solidFill>
          <a:ln w="8890">
            <a:solidFill>
              <a:srgbClr val="7D8DA1"/>
            </a:solidFill>
            <a:prstDash val="solid"/>
          </a:ln>
        </p:spPr>
      </p:sp>
      <p:sp>
        <p:nvSpPr>
          <p:cNvPr id="110" name="Text 95"/>
          <p:cNvSpPr/>
          <p:nvPr/>
        </p:nvSpPr>
        <p:spPr>
          <a:xfrm>
            <a:off x="9921240" y="1888236"/>
            <a:ext cx="14447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Sentence（句子级信息）</a:t>
            </a:r>
            <a:endParaRPr lang="en-US" sz="710" dirty="0"/>
          </a:p>
        </p:txBody>
      </p:sp>
      <p:sp>
        <p:nvSpPr>
          <p:cNvPr id="111" name="Shape 96"/>
          <p:cNvSpPr/>
          <p:nvPr/>
        </p:nvSpPr>
        <p:spPr>
          <a:xfrm>
            <a:off x="11558016" y="1920240"/>
            <a:ext cx="146304" cy="146304"/>
          </a:xfrm>
          <a:prstGeom prst="ellipse">
            <a:avLst/>
          </a:prstGeom>
          <a:solidFill>
            <a:srgbClr val="DFF4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2" name="Shape 97"/>
          <p:cNvSpPr/>
          <p:nvPr/>
        </p:nvSpPr>
        <p:spPr>
          <a:xfrm>
            <a:off x="11686032" y="2048256"/>
            <a:ext cx="109728" cy="109728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</a:ln>
        </p:spPr>
      </p:sp>
      <p:sp>
        <p:nvSpPr>
          <p:cNvPr id="113" name="Shape 98"/>
          <p:cNvSpPr/>
          <p:nvPr/>
        </p:nvSpPr>
        <p:spPr>
          <a:xfrm>
            <a:off x="9144000" y="2414016"/>
            <a:ext cx="731520" cy="914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4" name="Shape 99"/>
          <p:cNvSpPr/>
          <p:nvPr/>
        </p:nvSpPr>
        <p:spPr>
          <a:xfrm>
            <a:off x="9838944" y="2267712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FFF0C6"/>
          </a:solidFill>
          <a:ln w="8890">
            <a:solidFill>
              <a:srgbClr val="7D8DA1"/>
            </a:solidFill>
            <a:prstDash val="solid"/>
          </a:ln>
        </p:spPr>
      </p:sp>
      <p:sp>
        <p:nvSpPr>
          <p:cNvPr id="115" name="Text 100"/>
          <p:cNvSpPr/>
          <p:nvPr/>
        </p:nvSpPr>
        <p:spPr>
          <a:xfrm>
            <a:off x="9921240" y="2299716"/>
            <a:ext cx="14447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Completeness（完整性检查）</a:t>
            </a:r>
            <a:endParaRPr lang="en-US" sz="710" dirty="0"/>
          </a:p>
        </p:txBody>
      </p:sp>
      <p:sp>
        <p:nvSpPr>
          <p:cNvPr id="116" name="Shape 101"/>
          <p:cNvSpPr/>
          <p:nvPr/>
        </p:nvSpPr>
        <p:spPr>
          <a:xfrm>
            <a:off x="11558016" y="2331720"/>
            <a:ext cx="146304" cy="146304"/>
          </a:xfrm>
          <a:prstGeom prst="ellipse">
            <a:avLst/>
          </a:prstGeom>
          <a:solidFill>
            <a:srgbClr val="DFF4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7" name="Shape 102"/>
          <p:cNvSpPr/>
          <p:nvPr/>
        </p:nvSpPr>
        <p:spPr>
          <a:xfrm>
            <a:off x="11686032" y="2459736"/>
            <a:ext cx="109728" cy="109728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</a:ln>
        </p:spPr>
      </p:sp>
      <p:sp>
        <p:nvSpPr>
          <p:cNvPr id="118" name="Shape 103"/>
          <p:cNvSpPr/>
          <p:nvPr/>
        </p:nvSpPr>
        <p:spPr>
          <a:xfrm>
            <a:off x="9144000" y="2825496"/>
            <a:ext cx="731520" cy="914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9" name="Shape 104"/>
          <p:cNvSpPr/>
          <p:nvPr/>
        </p:nvSpPr>
        <p:spPr>
          <a:xfrm>
            <a:off x="9838944" y="2679192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E8DFF7"/>
          </a:solidFill>
          <a:ln w="8890">
            <a:solidFill>
              <a:srgbClr val="7D8DA1"/>
            </a:solidFill>
            <a:prstDash val="solid"/>
          </a:ln>
        </p:spPr>
      </p:sp>
      <p:sp>
        <p:nvSpPr>
          <p:cNvPr id="120" name="Text 105"/>
          <p:cNvSpPr/>
          <p:nvPr/>
        </p:nvSpPr>
        <p:spPr>
          <a:xfrm>
            <a:off x="9921240" y="2711196"/>
            <a:ext cx="14447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End-of-note（结束判断）</a:t>
            </a:r>
            <a:endParaRPr lang="en-US" sz="710" dirty="0"/>
          </a:p>
        </p:txBody>
      </p:sp>
      <p:sp>
        <p:nvSpPr>
          <p:cNvPr id="121" name="Shape 106"/>
          <p:cNvSpPr/>
          <p:nvPr/>
        </p:nvSpPr>
        <p:spPr>
          <a:xfrm>
            <a:off x="11558016" y="2743200"/>
            <a:ext cx="146304" cy="146304"/>
          </a:xfrm>
          <a:prstGeom prst="ellipse">
            <a:avLst/>
          </a:prstGeom>
          <a:solidFill>
            <a:srgbClr val="DFF4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2" name="Shape 107"/>
          <p:cNvSpPr/>
          <p:nvPr/>
        </p:nvSpPr>
        <p:spPr>
          <a:xfrm>
            <a:off x="11686032" y="2871216"/>
            <a:ext cx="109728" cy="109728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</a:ln>
        </p:spPr>
      </p:sp>
      <p:sp>
        <p:nvSpPr>
          <p:cNvPr id="123" name="Shape 108"/>
          <p:cNvSpPr/>
          <p:nvPr/>
        </p:nvSpPr>
        <p:spPr>
          <a:xfrm>
            <a:off x="12143232" y="1399032"/>
            <a:ext cx="1261872" cy="157276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B71C3B"/>
            </a:solidFill>
            <a:prstDash val="solid"/>
          </a:ln>
        </p:spPr>
      </p:sp>
      <p:sp>
        <p:nvSpPr>
          <p:cNvPr id="124" name="Shape 109"/>
          <p:cNvSpPr/>
          <p:nvPr/>
        </p:nvSpPr>
        <p:spPr>
          <a:xfrm>
            <a:off x="12444984" y="1572768"/>
            <a:ext cx="658368" cy="713232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5" name="Image 13" descr="C:\Users\dididimer\Documents\dimer-ppt\fresh_prm_clinic\assets\clipboard_warning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44984" y="1572768"/>
            <a:ext cx="658368" cy="713232"/>
          </a:xfrm>
          <a:prstGeom prst="rect">
            <a:avLst/>
          </a:prstGeom>
        </p:spPr>
      </p:pic>
      <p:sp>
        <p:nvSpPr>
          <p:cNvPr id="126" name="Text 110"/>
          <p:cNvSpPr/>
          <p:nvPr/>
        </p:nvSpPr>
        <p:spPr>
          <a:xfrm>
            <a:off x="12390120" y="2423160"/>
            <a:ext cx="7315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避免短答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但漏项</a:t>
            </a:r>
            <a:endParaRPr lang="en-US" sz="1000" dirty="0"/>
          </a:p>
        </p:txBody>
      </p:sp>
      <p:sp>
        <p:nvSpPr>
          <p:cNvPr id="127" name="Text 111"/>
          <p:cNvSpPr/>
          <p:nvPr/>
        </p:nvSpPr>
        <p:spPr>
          <a:xfrm>
            <a:off x="5870448" y="3465576"/>
            <a:ext cx="2834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Process Reward  逐步奖励</a:t>
            </a:r>
            <a:endParaRPr lang="en-US" sz="1300" dirty="0"/>
          </a:p>
        </p:txBody>
      </p:sp>
      <p:sp>
        <p:nvSpPr>
          <p:cNvPr id="128" name="Text 112"/>
          <p:cNvSpPr/>
          <p:nvPr/>
        </p:nvSpPr>
        <p:spPr>
          <a:xfrm>
            <a:off x="5916168" y="3840480"/>
            <a:ext cx="5120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i</a:t>
            </a:r>
            <a:endParaRPr lang="en-US" sz="900" dirty="0"/>
          </a:p>
        </p:txBody>
      </p:sp>
      <p:sp>
        <p:nvSpPr>
          <p:cNvPr id="129" name="Shape 113"/>
          <p:cNvSpPr/>
          <p:nvPr/>
        </p:nvSpPr>
        <p:spPr>
          <a:xfrm>
            <a:off x="6099048" y="4178808"/>
            <a:ext cx="914" cy="1033272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0" name="Shape 114"/>
          <p:cNvSpPr/>
          <p:nvPr/>
        </p:nvSpPr>
        <p:spPr>
          <a:xfrm>
            <a:off x="6547104" y="3931920"/>
            <a:ext cx="219456" cy="219456"/>
          </a:xfrm>
          <a:prstGeom prst="ellipse">
            <a:avLst/>
          </a:prstGeom>
          <a:solidFill>
            <a:srgbClr val="BBDCF7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1" name="Shape 115"/>
          <p:cNvSpPr/>
          <p:nvPr/>
        </p:nvSpPr>
        <p:spPr>
          <a:xfrm>
            <a:off x="6931152" y="4041648"/>
            <a:ext cx="566928" cy="914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2" name="Shape 116"/>
          <p:cNvSpPr/>
          <p:nvPr/>
        </p:nvSpPr>
        <p:spPr>
          <a:xfrm>
            <a:off x="6547104" y="4334256"/>
            <a:ext cx="219456" cy="219456"/>
          </a:xfrm>
          <a:prstGeom prst="ellipse">
            <a:avLst/>
          </a:prstGeom>
          <a:solidFill>
            <a:srgbClr val="BEE4B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3" name="Shape 117"/>
          <p:cNvSpPr/>
          <p:nvPr/>
        </p:nvSpPr>
        <p:spPr>
          <a:xfrm>
            <a:off x="6931152" y="4443984"/>
            <a:ext cx="566928" cy="914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4" name="Shape 118"/>
          <p:cNvSpPr/>
          <p:nvPr/>
        </p:nvSpPr>
        <p:spPr>
          <a:xfrm>
            <a:off x="6547104" y="4736592"/>
            <a:ext cx="219456" cy="219456"/>
          </a:xfrm>
          <a:prstGeom prst="ellipse">
            <a:avLst/>
          </a:prstGeom>
          <a:solidFill>
            <a:srgbClr val="FFE29B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5" name="Shape 119"/>
          <p:cNvSpPr/>
          <p:nvPr/>
        </p:nvSpPr>
        <p:spPr>
          <a:xfrm>
            <a:off x="6931152" y="4846320"/>
            <a:ext cx="566928" cy="914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6" name="Shape 120"/>
          <p:cNvSpPr/>
          <p:nvPr/>
        </p:nvSpPr>
        <p:spPr>
          <a:xfrm>
            <a:off x="6547104" y="5138928"/>
            <a:ext cx="219456" cy="219456"/>
          </a:xfrm>
          <a:prstGeom prst="ellipse">
            <a:avLst/>
          </a:prstGeom>
          <a:solidFill>
            <a:srgbClr val="D8C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7" name="Shape 121"/>
          <p:cNvSpPr/>
          <p:nvPr/>
        </p:nvSpPr>
        <p:spPr>
          <a:xfrm>
            <a:off x="6931152" y="5248656"/>
            <a:ext cx="566928" cy="914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8" name="Shape 122"/>
          <p:cNvSpPr/>
          <p:nvPr/>
        </p:nvSpPr>
        <p:spPr>
          <a:xfrm>
            <a:off x="7836408" y="4178808"/>
            <a:ext cx="749808" cy="749808"/>
          </a:xfrm>
          <a:prstGeom prst="rect">
            <a:avLst>
              <a:gd name="adj" fmla="val 9756"/>
            </a:avLst>
          </a:prstGeom>
          <a:solidFill>
            <a:srgbClr val="F3F9F3"/>
          </a:solidFill>
          <a:ln w="12700">
            <a:solidFill>
              <a:srgbClr val="F3F9F3"/>
            </a:solidFill>
            <a:prstDash val="solid"/>
          </a:ln>
        </p:spPr>
      </p:sp>
      <p:cxnSp>
        <p:nvCxnSpPr>
          <p:cNvPr id="387" name="DIMER_ICON_ROBOT_antenna_00"/>
          <p:cNvCxnSpPr/>
          <p:nvPr/>
        </p:nvCxnSpPr>
        <p:spPr>
          <a:xfrm>
            <a:off x="8211312" y="4205587"/>
            <a:ext cx="0" cy="120505"/>
          </a:xfrm>
          <a:prstGeom prst="line">
            <a:avLst/>
          </a:prstGeom>
          <a:ln w="10160">
            <a:solidFill>
              <a:srgbClr val="26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DIMER_ICON_ROBOT_antenna_tip_01"/>
          <p:cNvSpPr/>
          <p:nvPr/>
        </p:nvSpPr>
        <p:spPr>
          <a:xfrm>
            <a:off x="8172529" y="4178808"/>
            <a:ext cx="77566" cy="80337"/>
          </a:xfrm>
          <a:prstGeom prst="ellipse">
            <a:avLst/>
          </a:prstGeom>
          <a:solidFill>
            <a:srgbClr val="7FB6DB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DIMER_ICON_ROBOT_left_ear_02"/>
          <p:cNvSpPr/>
          <p:nvPr/>
        </p:nvSpPr>
        <p:spPr>
          <a:xfrm>
            <a:off x="7875191" y="4446597"/>
            <a:ext cx="116350" cy="241010"/>
          </a:xfrm>
          <a:prstGeom prst="roundRect">
            <a:avLst/>
          </a:prstGeom>
          <a:solidFill>
            <a:srgbClr val="7FB6DB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DIMER_ICON_ROBOT_right_ear_03"/>
          <p:cNvSpPr/>
          <p:nvPr/>
        </p:nvSpPr>
        <p:spPr>
          <a:xfrm>
            <a:off x="8431083" y="4446597"/>
            <a:ext cx="116350" cy="241010"/>
          </a:xfrm>
          <a:prstGeom prst="roundRect">
            <a:avLst/>
          </a:prstGeom>
          <a:solidFill>
            <a:srgbClr val="7FB6DB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DIMER_ICON_ROBOT_head_04"/>
          <p:cNvSpPr/>
          <p:nvPr/>
        </p:nvSpPr>
        <p:spPr>
          <a:xfrm>
            <a:off x="7952758" y="4312702"/>
            <a:ext cx="517109" cy="45524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DIMER_ICON_ROBOT_forehead_05"/>
          <p:cNvSpPr/>
          <p:nvPr/>
        </p:nvSpPr>
        <p:spPr>
          <a:xfrm>
            <a:off x="8030324" y="4352871"/>
            <a:ext cx="361976" cy="107115"/>
          </a:xfrm>
          <a:prstGeom prst="roundRect">
            <a:avLst/>
          </a:prstGeom>
          <a:solidFill>
            <a:srgbClr val="D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DIMER_ICON_ROBOT_visor_06"/>
          <p:cNvSpPr/>
          <p:nvPr/>
        </p:nvSpPr>
        <p:spPr>
          <a:xfrm>
            <a:off x="8004468" y="4459986"/>
            <a:ext cx="413687" cy="241010"/>
          </a:xfrm>
          <a:prstGeom prst="roundRect">
            <a:avLst/>
          </a:prstGeom>
          <a:solidFill>
            <a:srgbClr val="A5CEE8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DIMER_ICON_ROBOT_left_eye_07"/>
          <p:cNvSpPr/>
          <p:nvPr/>
        </p:nvSpPr>
        <p:spPr>
          <a:xfrm>
            <a:off x="8094962" y="4540323"/>
            <a:ext cx="64639" cy="66947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DIMER_ICON_ROBOT_right_eye_08"/>
          <p:cNvSpPr/>
          <p:nvPr/>
        </p:nvSpPr>
        <p:spPr>
          <a:xfrm>
            <a:off x="8263023" y="4540323"/>
            <a:ext cx="64639" cy="66947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DIMER_ICON_ROBOT_left_glint_09"/>
          <p:cNvSpPr/>
          <p:nvPr/>
        </p:nvSpPr>
        <p:spPr>
          <a:xfrm>
            <a:off x="8107890" y="4540323"/>
            <a:ext cx="25855" cy="2677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DIMER_ICON_ROBOT_right_glint_10"/>
          <p:cNvSpPr/>
          <p:nvPr/>
        </p:nvSpPr>
        <p:spPr>
          <a:xfrm>
            <a:off x="8275951" y="4540323"/>
            <a:ext cx="25855" cy="2677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DIMER_ICON_ROBOT_neck_11"/>
          <p:cNvSpPr/>
          <p:nvPr/>
        </p:nvSpPr>
        <p:spPr>
          <a:xfrm>
            <a:off x="8146673" y="4767943"/>
            <a:ext cx="129277" cy="53558"/>
          </a:xfrm>
          <a:prstGeom prst="rect">
            <a:avLst/>
          </a:pr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DIMER_ICON_ROBOT_base_12"/>
          <p:cNvSpPr/>
          <p:nvPr/>
        </p:nvSpPr>
        <p:spPr>
          <a:xfrm>
            <a:off x="8056179" y="4821501"/>
            <a:ext cx="310265" cy="80337"/>
          </a:xfrm>
          <a:prstGeom prst="roundRect">
            <a:avLst/>
          </a:pr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 123"/>
          <p:cNvSpPr/>
          <p:nvPr/>
        </p:nvSpPr>
        <p:spPr>
          <a:xfrm>
            <a:off x="7772400" y="4937760"/>
            <a:ext cx="932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PRM 验证器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PRM Verifier</a:t>
            </a:r>
            <a:endParaRPr lang="en-US" sz="950" dirty="0"/>
          </a:p>
        </p:txBody>
      </p:sp>
      <p:sp>
        <p:nvSpPr>
          <p:cNvPr id="141" name="Text 124"/>
          <p:cNvSpPr/>
          <p:nvPr/>
        </p:nvSpPr>
        <p:spPr>
          <a:xfrm>
            <a:off x="9290304" y="3511296"/>
            <a:ext cx="768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得分 token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820" dirty="0"/>
          </a:p>
        </p:txBody>
      </p:sp>
      <p:sp>
        <p:nvSpPr>
          <p:cNvPr id="142" name="Text 125"/>
          <p:cNvSpPr/>
          <p:nvPr/>
        </p:nvSpPr>
        <p:spPr>
          <a:xfrm>
            <a:off x="10351008" y="3511296"/>
            <a:ext cx="8595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  pᵢ(+)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Probability</a:t>
            </a:r>
            <a:endParaRPr lang="en-US" sz="820" dirty="0"/>
          </a:p>
        </p:txBody>
      </p:sp>
      <p:sp>
        <p:nvSpPr>
          <p:cNvPr id="143" name="Shape 126"/>
          <p:cNvSpPr/>
          <p:nvPr/>
        </p:nvSpPr>
        <p:spPr>
          <a:xfrm>
            <a:off x="8869680" y="4096512"/>
            <a:ext cx="39319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44" name="Shape 127"/>
          <p:cNvSpPr/>
          <p:nvPr/>
        </p:nvSpPr>
        <p:spPr>
          <a:xfrm>
            <a:off x="9363456" y="3950208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DDF6DF"/>
          </a:solidFill>
          <a:ln w="10160">
            <a:solidFill>
              <a:srgbClr val="62A66C"/>
            </a:solidFill>
            <a:prstDash val="solid"/>
          </a:ln>
        </p:spPr>
      </p:sp>
      <p:sp>
        <p:nvSpPr>
          <p:cNvPr id="145" name="Text 128"/>
          <p:cNvSpPr/>
          <p:nvPr/>
        </p:nvSpPr>
        <p:spPr>
          <a:xfrm>
            <a:off x="9518904" y="3986784"/>
            <a:ext cx="182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200" dirty="0"/>
          </a:p>
        </p:txBody>
      </p:sp>
      <p:sp>
        <p:nvSpPr>
          <p:cNvPr id="146" name="Shape 129"/>
          <p:cNvSpPr/>
          <p:nvPr/>
        </p:nvSpPr>
        <p:spPr>
          <a:xfrm>
            <a:off x="9893808" y="4096512"/>
            <a:ext cx="43891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47" name="Shape 130"/>
          <p:cNvSpPr/>
          <p:nvPr/>
        </p:nvSpPr>
        <p:spPr>
          <a:xfrm>
            <a:off x="10369296" y="395020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DDF6DF"/>
          </a:solidFill>
          <a:ln w="10160">
            <a:solidFill>
              <a:srgbClr val="62A66C"/>
            </a:solidFill>
            <a:prstDash val="solid"/>
          </a:ln>
        </p:spPr>
      </p:sp>
      <p:sp>
        <p:nvSpPr>
          <p:cNvPr id="148" name="Text 131"/>
          <p:cNvSpPr/>
          <p:nvPr/>
        </p:nvSpPr>
        <p:spPr>
          <a:xfrm>
            <a:off x="10533888" y="3986784"/>
            <a:ext cx="402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.96</a:t>
            </a:r>
            <a:endParaRPr lang="en-US" sz="1000" dirty="0"/>
          </a:p>
        </p:txBody>
      </p:sp>
      <p:sp>
        <p:nvSpPr>
          <p:cNvPr id="149" name="Shape 132"/>
          <p:cNvSpPr/>
          <p:nvPr/>
        </p:nvSpPr>
        <p:spPr>
          <a:xfrm>
            <a:off x="8869680" y="4498848"/>
            <a:ext cx="39319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0" name="Shape 133"/>
          <p:cNvSpPr/>
          <p:nvPr/>
        </p:nvSpPr>
        <p:spPr>
          <a:xfrm>
            <a:off x="9363456" y="4352544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DDF6DF"/>
          </a:solidFill>
          <a:ln w="10160">
            <a:solidFill>
              <a:srgbClr val="62A66C"/>
            </a:solidFill>
            <a:prstDash val="solid"/>
          </a:ln>
        </p:spPr>
      </p:sp>
      <p:sp>
        <p:nvSpPr>
          <p:cNvPr id="151" name="Text 134"/>
          <p:cNvSpPr/>
          <p:nvPr/>
        </p:nvSpPr>
        <p:spPr>
          <a:xfrm>
            <a:off x="9518904" y="4389120"/>
            <a:ext cx="182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200" dirty="0"/>
          </a:p>
        </p:txBody>
      </p:sp>
      <p:sp>
        <p:nvSpPr>
          <p:cNvPr id="152" name="Shape 135"/>
          <p:cNvSpPr/>
          <p:nvPr/>
        </p:nvSpPr>
        <p:spPr>
          <a:xfrm>
            <a:off x="9893808" y="4498848"/>
            <a:ext cx="43891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3" name="Shape 136"/>
          <p:cNvSpPr/>
          <p:nvPr/>
        </p:nvSpPr>
        <p:spPr>
          <a:xfrm>
            <a:off x="10369296" y="4352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DDF6DF"/>
          </a:solidFill>
          <a:ln w="10160">
            <a:solidFill>
              <a:srgbClr val="62A66C"/>
            </a:solidFill>
            <a:prstDash val="solid"/>
          </a:ln>
        </p:spPr>
      </p:sp>
      <p:sp>
        <p:nvSpPr>
          <p:cNvPr id="154" name="Text 137"/>
          <p:cNvSpPr/>
          <p:nvPr/>
        </p:nvSpPr>
        <p:spPr>
          <a:xfrm>
            <a:off x="10533888" y="4389120"/>
            <a:ext cx="402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.88</a:t>
            </a:r>
            <a:endParaRPr lang="en-US" sz="1000" dirty="0"/>
          </a:p>
        </p:txBody>
      </p:sp>
      <p:sp>
        <p:nvSpPr>
          <p:cNvPr id="155" name="Shape 138"/>
          <p:cNvSpPr/>
          <p:nvPr/>
        </p:nvSpPr>
        <p:spPr>
          <a:xfrm>
            <a:off x="8869680" y="4901184"/>
            <a:ext cx="39319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6" name="Shape 139"/>
          <p:cNvSpPr/>
          <p:nvPr/>
        </p:nvSpPr>
        <p:spPr>
          <a:xfrm>
            <a:off x="9363456" y="4754880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FFE1D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57" name="Text 140"/>
          <p:cNvSpPr/>
          <p:nvPr/>
        </p:nvSpPr>
        <p:spPr>
          <a:xfrm>
            <a:off x="9518904" y="4791456"/>
            <a:ext cx="182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</a:t>
            </a:r>
            <a:endParaRPr lang="en-US" sz="1200" dirty="0"/>
          </a:p>
        </p:txBody>
      </p:sp>
      <p:sp>
        <p:nvSpPr>
          <p:cNvPr id="158" name="Shape 141"/>
          <p:cNvSpPr/>
          <p:nvPr/>
        </p:nvSpPr>
        <p:spPr>
          <a:xfrm>
            <a:off x="9893808" y="4901184"/>
            <a:ext cx="43891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9" name="Shape 142"/>
          <p:cNvSpPr/>
          <p:nvPr/>
        </p:nvSpPr>
        <p:spPr>
          <a:xfrm>
            <a:off x="10369296" y="47548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FFE1D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60" name="Text 143"/>
          <p:cNvSpPr/>
          <p:nvPr/>
        </p:nvSpPr>
        <p:spPr>
          <a:xfrm>
            <a:off x="10533888" y="4791456"/>
            <a:ext cx="402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.21</a:t>
            </a:r>
            <a:endParaRPr lang="en-US" sz="1000" dirty="0"/>
          </a:p>
        </p:txBody>
      </p:sp>
      <p:sp>
        <p:nvSpPr>
          <p:cNvPr id="161" name="Shape 144"/>
          <p:cNvSpPr/>
          <p:nvPr/>
        </p:nvSpPr>
        <p:spPr>
          <a:xfrm>
            <a:off x="8869680" y="5303520"/>
            <a:ext cx="39319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62" name="Shape 145"/>
          <p:cNvSpPr/>
          <p:nvPr/>
        </p:nvSpPr>
        <p:spPr>
          <a:xfrm>
            <a:off x="9363456" y="5157216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DDF6DF"/>
          </a:solidFill>
          <a:ln w="10160">
            <a:solidFill>
              <a:srgbClr val="62A66C"/>
            </a:solidFill>
            <a:prstDash val="solid"/>
          </a:ln>
        </p:spPr>
      </p:sp>
      <p:sp>
        <p:nvSpPr>
          <p:cNvPr id="163" name="Text 146"/>
          <p:cNvSpPr/>
          <p:nvPr/>
        </p:nvSpPr>
        <p:spPr>
          <a:xfrm>
            <a:off x="9518904" y="5193792"/>
            <a:ext cx="182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200" dirty="0"/>
          </a:p>
        </p:txBody>
      </p:sp>
      <p:sp>
        <p:nvSpPr>
          <p:cNvPr id="164" name="Shape 147"/>
          <p:cNvSpPr/>
          <p:nvPr/>
        </p:nvSpPr>
        <p:spPr>
          <a:xfrm>
            <a:off x="9893808" y="5303520"/>
            <a:ext cx="43891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65" name="Shape 148"/>
          <p:cNvSpPr/>
          <p:nvPr/>
        </p:nvSpPr>
        <p:spPr>
          <a:xfrm>
            <a:off x="10369296" y="515721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DDF6DF"/>
          </a:solidFill>
          <a:ln w="10160">
            <a:solidFill>
              <a:srgbClr val="62A66C"/>
            </a:solidFill>
            <a:prstDash val="solid"/>
          </a:ln>
        </p:spPr>
      </p:sp>
      <p:sp>
        <p:nvSpPr>
          <p:cNvPr id="166" name="Text 149"/>
          <p:cNvSpPr/>
          <p:nvPr/>
        </p:nvSpPr>
        <p:spPr>
          <a:xfrm>
            <a:off x="10533888" y="5193792"/>
            <a:ext cx="402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.93</a:t>
            </a:r>
            <a:endParaRPr lang="en-US" sz="1000" dirty="0"/>
          </a:p>
        </p:txBody>
      </p:sp>
      <p:sp>
        <p:nvSpPr>
          <p:cNvPr id="167" name="Shape 150"/>
          <p:cNvSpPr/>
          <p:nvPr/>
        </p:nvSpPr>
        <p:spPr>
          <a:xfrm>
            <a:off x="11393424" y="3675888"/>
            <a:ext cx="190195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3A9552"/>
            </a:solidFill>
            <a:prstDash val="solid"/>
          </a:ln>
        </p:spPr>
      </p:sp>
      <p:sp>
        <p:nvSpPr>
          <p:cNvPr id="168" name="Text 151"/>
          <p:cNvSpPr/>
          <p:nvPr/>
        </p:nvSpPr>
        <p:spPr>
          <a:xfrm>
            <a:off x="11667744" y="3886200"/>
            <a:ext cx="98755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Score(note)=</a:t>
            </a:r>
            <a:endParaRPr lang="en-US" sz="1000" dirty="0"/>
          </a:p>
        </p:txBody>
      </p:sp>
      <p:sp>
        <p:nvSpPr>
          <p:cNvPr id="169" name="Text 152"/>
          <p:cNvSpPr/>
          <p:nvPr/>
        </p:nvSpPr>
        <p:spPr>
          <a:xfrm>
            <a:off x="11686032" y="4096512"/>
            <a:ext cx="274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</a:t>
            </a:r>
            <a:endParaRPr lang="en-US" sz="2300" dirty="0"/>
          </a:p>
        </p:txBody>
      </p:sp>
      <p:sp>
        <p:nvSpPr>
          <p:cNvPr id="170" name="Text 153"/>
          <p:cNvSpPr/>
          <p:nvPr/>
        </p:nvSpPr>
        <p:spPr>
          <a:xfrm>
            <a:off x="11859768" y="4014216"/>
            <a:ext cx="1645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endParaRPr lang="en-US" sz="600" dirty="0"/>
          </a:p>
        </p:txBody>
      </p:sp>
      <p:sp>
        <p:nvSpPr>
          <p:cNvPr id="171" name="Text 154"/>
          <p:cNvSpPr/>
          <p:nvPr/>
        </p:nvSpPr>
        <p:spPr>
          <a:xfrm>
            <a:off x="11777472" y="4407408"/>
            <a:ext cx="25603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i=1</a:t>
            </a:r>
            <a:endParaRPr lang="en-US" sz="600" dirty="0"/>
          </a:p>
        </p:txBody>
      </p:sp>
      <p:sp>
        <p:nvSpPr>
          <p:cNvPr id="172" name="Text 155"/>
          <p:cNvSpPr/>
          <p:nvPr/>
        </p:nvSpPr>
        <p:spPr>
          <a:xfrm>
            <a:off x="12033504" y="4187952"/>
            <a:ext cx="7132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pᵢ(+)</a:t>
            </a:r>
            <a:endParaRPr lang="en-US" sz="1350" dirty="0"/>
          </a:p>
        </p:txBody>
      </p:sp>
      <p:sp>
        <p:nvSpPr>
          <p:cNvPr id="173" name="Shape 156"/>
          <p:cNvSpPr/>
          <p:nvPr/>
        </p:nvSpPr>
        <p:spPr>
          <a:xfrm>
            <a:off x="11082528" y="4901184"/>
            <a:ext cx="566928" cy="914"/>
          </a:xfrm>
          <a:prstGeom prst="line">
            <a:avLst/>
          </a:prstGeom>
          <a:noFill/>
          <a:ln w="1143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74" name="Shape 157"/>
          <p:cNvSpPr/>
          <p:nvPr/>
        </p:nvSpPr>
        <p:spPr>
          <a:xfrm>
            <a:off x="11676888" y="4965192"/>
            <a:ext cx="374904" cy="429768"/>
          </a:xfrm>
          <a:prstGeom prst="rect">
            <a:avLst>
              <a:gd name="adj" fmla="val 19512"/>
            </a:avLst>
          </a:prstGeom>
          <a:solidFill>
            <a:srgbClr val="F3F9F3"/>
          </a:solidFill>
          <a:ln w="12700">
            <a:solidFill>
              <a:srgbClr val="F3F9F3"/>
            </a:solidFill>
            <a:prstDash val="solid"/>
          </a:ln>
        </p:spPr>
      </p:sp>
      <p:sp>
        <p:nvSpPr>
          <p:cNvPr id="58" name="DIMER_ICON_WARNING_triangle_00"/>
          <p:cNvSpPr/>
          <p:nvPr/>
        </p:nvSpPr>
        <p:spPr>
          <a:xfrm>
            <a:off x="11702743" y="5008169"/>
            <a:ext cx="323193" cy="329489"/>
          </a:xfrm>
          <a:custGeom>
            <a:avLst/>
            <a:gdLst/>
            <a:ahLst/>
            <a:cxnLst/>
            <a:rect l="l" t="t" r="r" b="b"/>
            <a:pathLst>
              <a:path w="50" h="46">
                <a:moveTo>
                  <a:pt x="25" y="0"/>
                </a:moveTo>
                <a:lnTo>
                  <a:pt x="50" y="46"/>
                </a:lnTo>
                <a:lnTo>
                  <a:pt x="0" y="46"/>
                </a:lnTo>
                <a:close/>
              </a:path>
            </a:pathLst>
          </a:custGeom>
          <a:solidFill>
            <a:srgbClr val="E96F72"/>
          </a:solidFill>
          <a:ln w="1270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DIMER_ICON_WARNING_mark_01"/>
          <p:cNvSpPr/>
          <p:nvPr/>
        </p:nvSpPr>
        <p:spPr>
          <a:xfrm>
            <a:off x="11844948" y="5115611"/>
            <a:ext cx="38783" cy="12893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DIMER_ICON_WARNING_dot_02"/>
          <p:cNvSpPr/>
          <p:nvPr/>
        </p:nvSpPr>
        <p:spPr>
          <a:xfrm>
            <a:off x="11844948" y="5273192"/>
            <a:ext cx="38783" cy="429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 158"/>
          <p:cNvSpPr/>
          <p:nvPr/>
        </p:nvSpPr>
        <p:spPr>
          <a:xfrm>
            <a:off x="12124944" y="4956048"/>
            <a:ext cx="7498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定位错误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Locate error</a:t>
            </a:r>
            <a:endParaRPr lang="en-US" sz="760" dirty="0"/>
          </a:p>
        </p:txBody>
      </p:sp>
      <p:sp>
        <p:nvSpPr>
          <p:cNvPr id="177" name="Text 159"/>
          <p:cNvSpPr/>
          <p:nvPr/>
        </p:nvSpPr>
        <p:spPr>
          <a:xfrm>
            <a:off x="5870448" y="576072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9A5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(c) Candidate Ranking  多候选排序</a:t>
            </a:r>
            <a:endParaRPr lang="en-US" sz="1280" dirty="0"/>
          </a:p>
        </p:txBody>
      </p:sp>
      <p:sp>
        <p:nvSpPr>
          <p:cNvPr id="178" name="Text 160"/>
          <p:cNvSpPr/>
          <p:nvPr/>
        </p:nvSpPr>
        <p:spPr>
          <a:xfrm>
            <a:off x="5870448" y="6089904"/>
            <a:ext cx="74980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多候选笔记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Candidates</a:t>
            </a:r>
            <a:endParaRPr lang="en-US" sz="850" dirty="0"/>
          </a:p>
        </p:txBody>
      </p:sp>
      <p:sp>
        <p:nvSpPr>
          <p:cNvPr id="179" name="Shape 161"/>
          <p:cNvSpPr/>
          <p:nvPr/>
        </p:nvSpPr>
        <p:spPr>
          <a:xfrm>
            <a:off x="5943600" y="6565392"/>
            <a:ext cx="256032" cy="3108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0" name="Shape 162"/>
          <p:cNvSpPr/>
          <p:nvPr/>
        </p:nvSpPr>
        <p:spPr>
          <a:xfrm>
            <a:off x="5943600" y="6565392"/>
            <a:ext cx="256032" cy="256032"/>
          </a:xfrm>
          <a:prstGeom prst="rtTriangle">
            <a:avLst/>
          </a:prstGeom>
          <a:solidFill>
            <a:srgbClr val="F4F7FB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181" name="Shape 163"/>
          <p:cNvSpPr/>
          <p:nvPr/>
        </p:nvSpPr>
        <p:spPr>
          <a:xfrm flipH="1">
            <a:off x="6035040" y="6867144"/>
            <a:ext cx="73152" cy="914"/>
          </a:xfrm>
          <a:prstGeom prst="line">
            <a:avLst/>
          </a:prstGeom>
          <a:noFill/>
          <a:ln w="13970">
            <a:solidFill>
              <a:srgbClr val="2F80ED"/>
            </a:solidFill>
            <a:prstDash val="solid"/>
          </a:ln>
        </p:spPr>
      </p:sp>
      <p:sp>
        <p:nvSpPr>
          <p:cNvPr id="182" name="Shape 164"/>
          <p:cNvSpPr/>
          <p:nvPr/>
        </p:nvSpPr>
        <p:spPr>
          <a:xfrm flipH="1">
            <a:off x="6035040" y="7050024"/>
            <a:ext cx="73152" cy="914"/>
          </a:xfrm>
          <a:prstGeom prst="line">
            <a:avLst/>
          </a:prstGeom>
          <a:noFill/>
          <a:ln w="13970">
            <a:solidFill>
              <a:srgbClr val="2F80ED"/>
            </a:solidFill>
            <a:prstDash val="solid"/>
          </a:ln>
        </p:spPr>
      </p:sp>
      <p:sp>
        <p:nvSpPr>
          <p:cNvPr id="183" name="Shape 165"/>
          <p:cNvSpPr/>
          <p:nvPr/>
        </p:nvSpPr>
        <p:spPr>
          <a:xfrm flipH="1">
            <a:off x="6035040" y="7232904"/>
            <a:ext cx="73152" cy="914"/>
          </a:xfrm>
          <a:prstGeom prst="line">
            <a:avLst/>
          </a:prstGeom>
          <a:noFill/>
          <a:ln w="13970">
            <a:solidFill>
              <a:srgbClr val="2F80ED"/>
            </a:solidFill>
            <a:prstDash val="solid"/>
          </a:ln>
        </p:spPr>
      </p:sp>
      <p:sp>
        <p:nvSpPr>
          <p:cNvPr id="184" name="Shape 166"/>
          <p:cNvSpPr/>
          <p:nvPr/>
        </p:nvSpPr>
        <p:spPr>
          <a:xfrm>
            <a:off x="6382512" y="6565392"/>
            <a:ext cx="256032" cy="3108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5" name="Shape 167"/>
          <p:cNvSpPr/>
          <p:nvPr/>
        </p:nvSpPr>
        <p:spPr>
          <a:xfrm>
            <a:off x="6382512" y="6565392"/>
            <a:ext cx="256032" cy="256032"/>
          </a:xfrm>
          <a:prstGeom prst="rtTriangle">
            <a:avLst/>
          </a:prstGeom>
          <a:solidFill>
            <a:srgbClr val="F4F7FB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86" name="Shape 168"/>
          <p:cNvSpPr/>
          <p:nvPr/>
        </p:nvSpPr>
        <p:spPr>
          <a:xfrm flipH="1">
            <a:off x="6473952" y="6867144"/>
            <a:ext cx="73152" cy="914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87" name="Shape 169"/>
          <p:cNvSpPr/>
          <p:nvPr/>
        </p:nvSpPr>
        <p:spPr>
          <a:xfrm flipH="1">
            <a:off x="6473952" y="7050024"/>
            <a:ext cx="73152" cy="914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88" name="Shape 170"/>
          <p:cNvSpPr/>
          <p:nvPr/>
        </p:nvSpPr>
        <p:spPr>
          <a:xfrm flipH="1">
            <a:off x="6473952" y="7232904"/>
            <a:ext cx="73152" cy="914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89" name="Shape 171"/>
          <p:cNvSpPr/>
          <p:nvPr/>
        </p:nvSpPr>
        <p:spPr>
          <a:xfrm>
            <a:off x="5943600" y="7114032"/>
            <a:ext cx="256032" cy="3108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9200"/>
            </a:solidFill>
            <a:prstDash val="solid"/>
          </a:ln>
        </p:spPr>
      </p:sp>
      <p:sp>
        <p:nvSpPr>
          <p:cNvPr id="190" name="Shape 172"/>
          <p:cNvSpPr/>
          <p:nvPr/>
        </p:nvSpPr>
        <p:spPr>
          <a:xfrm>
            <a:off x="5943600" y="7114032"/>
            <a:ext cx="256032" cy="256032"/>
          </a:xfrm>
          <a:prstGeom prst="rtTriangle">
            <a:avLst/>
          </a:prstGeom>
          <a:solidFill>
            <a:srgbClr val="F4F7FB"/>
          </a:solidFill>
          <a:ln w="10160">
            <a:solidFill>
              <a:srgbClr val="E39200"/>
            </a:solidFill>
            <a:prstDash val="solid"/>
          </a:ln>
        </p:spPr>
      </p:sp>
      <p:sp>
        <p:nvSpPr>
          <p:cNvPr id="191" name="Shape 173"/>
          <p:cNvSpPr/>
          <p:nvPr/>
        </p:nvSpPr>
        <p:spPr>
          <a:xfrm flipH="1">
            <a:off x="6035040" y="7415784"/>
            <a:ext cx="73152" cy="914"/>
          </a:xfrm>
          <a:prstGeom prst="line">
            <a:avLst/>
          </a:prstGeom>
          <a:noFill/>
          <a:ln w="13970">
            <a:solidFill>
              <a:srgbClr val="E39200"/>
            </a:solidFill>
            <a:prstDash val="solid"/>
          </a:ln>
        </p:spPr>
      </p:sp>
      <p:sp>
        <p:nvSpPr>
          <p:cNvPr id="192" name="Shape 174"/>
          <p:cNvSpPr/>
          <p:nvPr/>
        </p:nvSpPr>
        <p:spPr>
          <a:xfrm flipH="1">
            <a:off x="6035040" y="7598664"/>
            <a:ext cx="73152" cy="914"/>
          </a:xfrm>
          <a:prstGeom prst="line">
            <a:avLst/>
          </a:prstGeom>
          <a:noFill/>
          <a:ln w="13970">
            <a:solidFill>
              <a:srgbClr val="E39200"/>
            </a:solidFill>
            <a:prstDash val="solid"/>
          </a:ln>
        </p:spPr>
      </p:sp>
      <p:sp>
        <p:nvSpPr>
          <p:cNvPr id="193" name="Shape 175"/>
          <p:cNvSpPr/>
          <p:nvPr/>
        </p:nvSpPr>
        <p:spPr>
          <a:xfrm flipH="1">
            <a:off x="6035040" y="7781544"/>
            <a:ext cx="73152" cy="914"/>
          </a:xfrm>
          <a:prstGeom prst="line">
            <a:avLst/>
          </a:prstGeom>
          <a:noFill/>
          <a:ln w="13970">
            <a:solidFill>
              <a:srgbClr val="E39200"/>
            </a:solidFill>
            <a:prstDash val="solid"/>
          </a:ln>
        </p:spPr>
      </p:sp>
      <p:sp>
        <p:nvSpPr>
          <p:cNvPr id="194" name="Shape 176"/>
          <p:cNvSpPr/>
          <p:nvPr/>
        </p:nvSpPr>
        <p:spPr>
          <a:xfrm>
            <a:off x="6382512" y="7114032"/>
            <a:ext cx="256032" cy="3108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5" name="Shape 177"/>
          <p:cNvSpPr/>
          <p:nvPr/>
        </p:nvSpPr>
        <p:spPr>
          <a:xfrm>
            <a:off x="6382512" y="7114032"/>
            <a:ext cx="256032" cy="256032"/>
          </a:xfrm>
          <a:prstGeom prst="rtTriangle">
            <a:avLst/>
          </a:prstGeom>
          <a:solidFill>
            <a:srgbClr val="F4F7FB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96" name="Shape 178"/>
          <p:cNvSpPr/>
          <p:nvPr/>
        </p:nvSpPr>
        <p:spPr>
          <a:xfrm flipH="1">
            <a:off x="6473952" y="7415784"/>
            <a:ext cx="73152" cy="91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197" name="Shape 179"/>
          <p:cNvSpPr/>
          <p:nvPr/>
        </p:nvSpPr>
        <p:spPr>
          <a:xfrm flipH="1">
            <a:off x="6473952" y="7598664"/>
            <a:ext cx="73152" cy="91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198" name="Shape 180"/>
          <p:cNvSpPr/>
          <p:nvPr/>
        </p:nvSpPr>
        <p:spPr>
          <a:xfrm flipH="1">
            <a:off x="6473952" y="7781544"/>
            <a:ext cx="73152" cy="91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199" name="Text 181"/>
          <p:cNvSpPr/>
          <p:nvPr/>
        </p:nvSpPr>
        <p:spPr>
          <a:xfrm>
            <a:off x="6236208" y="7296912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⋮</a:t>
            </a:r>
            <a:endParaRPr lang="en-US" sz="1100" dirty="0"/>
          </a:p>
        </p:txBody>
      </p:sp>
      <p:sp>
        <p:nvSpPr>
          <p:cNvPr id="200" name="Shape 182"/>
          <p:cNvSpPr/>
          <p:nvPr/>
        </p:nvSpPr>
        <p:spPr>
          <a:xfrm>
            <a:off x="6803136" y="6675120"/>
            <a:ext cx="384048" cy="201168"/>
          </a:xfrm>
          <a:prstGeom prst="rightArrow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01" name="Shape 183"/>
          <p:cNvSpPr/>
          <p:nvPr/>
        </p:nvSpPr>
        <p:spPr>
          <a:xfrm>
            <a:off x="7223760" y="6035040"/>
            <a:ext cx="2679192" cy="1380744"/>
          </a:xfrm>
          <a:prstGeom prst="roundRect">
            <a:avLst>
              <a:gd name="adj" fmla="val 6623"/>
            </a:avLst>
          </a:prstGeom>
          <a:solidFill>
            <a:srgbClr val="FFFDF6"/>
          </a:solidFill>
          <a:ln w="11430">
            <a:solidFill>
              <a:srgbClr val="E39200"/>
            </a:solidFill>
            <a:prstDash val="solid"/>
          </a:ln>
        </p:spPr>
      </p:sp>
      <p:sp>
        <p:nvSpPr>
          <p:cNvPr id="202" name="Text 184"/>
          <p:cNvSpPr/>
          <p:nvPr/>
        </p:nvSpPr>
        <p:spPr>
          <a:xfrm>
            <a:off x="7662672" y="6144768"/>
            <a:ext cx="17007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Best-of-N reranking</a:t>
            </a:r>
            <a:endParaRPr lang="en-US" sz="1000" dirty="0"/>
          </a:p>
        </p:txBody>
      </p:sp>
      <p:sp>
        <p:nvSpPr>
          <p:cNvPr id="203" name="Text 185"/>
          <p:cNvSpPr/>
          <p:nvPr/>
        </p:nvSpPr>
        <p:spPr>
          <a:xfrm>
            <a:off x="7955280" y="6437376"/>
            <a:ext cx="153619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    Step 2       ...    Step m</a:t>
            </a:r>
            <a:endParaRPr lang="en-US" sz="560" dirty="0"/>
          </a:p>
        </p:txBody>
      </p:sp>
      <p:sp>
        <p:nvSpPr>
          <p:cNvPr id="204" name="Text 186"/>
          <p:cNvSpPr/>
          <p:nvPr/>
        </p:nvSpPr>
        <p:spPr>
          <a:xfrm>
            <a:off x="7388352" y="6638544"/>
            <a:ext cx="5029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Cand. A</a:t>
            </a:r>
            <a:endParaRPr lang="en-US" sz="640" dirty="0"/>
          </a:p>
        </p:txBody>
      </p:sp>
      <p:sp>
        <p:nvSpPr>
          <p:cNvPr id="205" name="Text 187"/>
          <p:cNvSpPr/>
          <p:nvPr/>
        </p:nvSpPr>
        <p:spPr>
          <a:xfrm>
            <a:off x="7388352" y="6931152"/>
            <a:ext cx="5029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Cand. B</a:t>
            </a:r>
            <a:endParaRPr lang="en-US" sz="640" dirty="0"/>
          </a:p>
        </p:txBody>
      </p:sp>
      <p:sp>
        <p:nvSpPr>
          <p:cNvPr id="206" name="Text 188"/>
          <p:cNvSpPr/>
          <p:nvPr/>
        </p:nvSpPr>
        <p:spPr>
          <a:xfrm>
            <a:off x="7388352" y="7223760"/>
            <a:ext cx="5029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Cand. C</a:t>
            </a:r>
            <a:endParaRPr lang="en-US" sz="640" dirty="0"/>
          </a:p>
        </p:txBody>
      </p:sp>
      <p:sp>
        <p:nvSpPr>
          <p:cNvPr id="207" name="Shape 189"/>
          <p:cNvSpPr/>
          <p:nvPr/>
        </p:nvSpPr>
        <p:spPr>
          <a:xfrm>
            <a:off x="7936992" y="6601968"/>
            <a:ext cx="411480" cy="256032"/>
          </a:xfrm>
          <a:prstGeom prst="rect">
            <a:avLst>
              <a:gd name="adj" fmla="val 28571"/>
            </a:avLst>
          </a:prstGeom>
          <a:solidFill>
            <a:srgbClr val="6CBF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8" name="Shape 190"/>
          <p:cNvSpPr/>
          <p:nvPr/>
        </p:nvSpPr>
        <p:spPr>
          <a:xfrm>
            <a:off x="8375904" y="6601968"/>
            <a:ext cx="411480" cy="256032"/>
          </a:xfrm>
          <a:prstGeom prst="rect">
            <a:avLst>
              <a:gd name="adj" fmla="val 28571"/>
            </a:avLst>
          </a:prstGeom>
          <a:solidFill>
            <a:srgbClr val="88CF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9" name="Shape 191"/>
          <p:cNvSpPr/>
          <p:nvPr/>
        </p:nvSpPr>
        <p:spPr>
          <a:xfrm>
            <a:off x="8814816" y="6601968"/>
            <a:ext cx="411480" cy="256032"/>
          </a:xfrm>
          <a:prstGeom prst="rect">
            <a:avLst>
              <a:gd name="adj" fmla="val 28571"/>
            </a:avLst>
          </a:prstGeom>
          <a:solidFill>
            <a:srgbClr val="BCE4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0" name="Shape 192"/>
          <p:cNvSpPr/>
          <p:nvPr/>
        </p:nvSpPr>
        <p:spPr>
          <a:xfrm>
            <a:off x="9253728" y="6601968"/>
            <a:ext cx="411480" cy="256032"/>
          </a:xfrm>
          <a:prstGeom prst="rect">
            <a:avLst>
              <a:gd name="adj" fmla="val 28571"/>
            </a:avLst>
          </a:prstGeom>
          <a:solidFill>
            <a:srgbClr val="A6D89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1" name="Shape 193"/>
          <p:cNvSpPr/>
          <p:nvPr/>
        </p:nvSpPr>
        <p:spPr>
          <a:xfrm>
            <a:off x="7936992" y="6894576"/>
            <a:ext cx="411480" cy="256032"/>
          </a:xfrm>
          <a:prstGeom prst="rect">
            <a:avLst>
              <a:gd name="adj" fmla="val 28571"/>
            </a:avLst>
          </a:prstGeom>
          <a:solidFill>
            <a:srgbClr val="87CB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2" name="Shape 194"/>
          <p:cNvSpPr/>
          <p:nvPr/>
        </p:nvSpPr>
        <p:spPr>
          <a:xfrm>
            <a:off x="8375904" y="6894576"/>
            <a:ext cx="411480" cy="256032"/>
          </a:xfrm>
          <a:prstGeom prst="rect">
            <a:avLst>
              <a:gd name="adj" fmla="val 28571"/>
            </a:avLst>
          </a:prstGeom>
          <a:solidFill>
            <a:srgbClr val="FFE3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3" name="Shape 195"/>
          <p:cNvSpPr/>
          <p:nvPr/>
        </p:nvSpPr>
        <p:spPr>
          <a:xfrm>
            <a:off x="8814816" y="6894576"/>
            <a:ext cx="411480" cy="256032"/>
          </a:xfrm>
          <a:prstGeom prst="rect">
            <a:avLst>
              <a:gd name="adj" fmla="val 28571"/>
            </a:avLst>
          </a:prstGeom>
          <a:solidFill>
            <a:srgbClr val="FFE3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4" name="Shape 196"/>
          <p:cNvSpPr/>
          <p:nvPr/>
        </p:nvSpPr>
        <p:spPr>
          <a:xfrm>
            <a:off x="9253728" y="6894576"/>
            <a:ext cx="411480" cy="256032"/>
          </a:xfrm>
          <a:prstGeom prst="rect">
            <a:avLst>
              <a:gd name="adj" fmla="val 28571"/>
            </a:avLst>
          </a:prstGeom>
          <a:solidFill>
            <a:srgbClr val="FFE3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5" name="Shape 197"/>
          <p:cNvSpPr/>
          <p:nvPr/>
        </p:nvSpPr>
        <p:spPr>
          <a:xfrm>
            <a:off x="7936992" y="7187184"/>
            <a:ext cx="411480" cy="256032"/>
          </a:xfrm>
          <a:prstGeom prst="rect">
            <a:avLst>
              <a:gd name="adj" fmla="val 28571"/>
            </a:avLst>
          </a:prstGeom>
          <a:solidFill>
            <a:srgbClr val="F371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6" name="Shape 198"/>
          <p:cNvSpPr/>
          <p:nvPr/>
        </p:nvSpPr>
        <p:spPr>
          <a:xfrm>
            <a:off x="8375904" y="7187184"/>
            <a:ext cx="411480" cy="256032"/>
          </a:xfrm>
          <a:prstGeom prst="rect">
            <a:avLst>
              <a:gd name="adj" fmla="val 28571"/>
            </a:avLst>
          </a:prstGeom>
          <a:solidFill>
            <a:srgbClr val="F47A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7" name="Shape 199"/>
          <p:cNvSpPr/>
          <p:nvPr/>
        </p:nvSpPr>
        <p:spPr>
          <a:xfrm>
            <a:off x="8814816" y="7187184"/>
            <a:ext cx="411480" cy="256032"/>
          </a:xfrm>
          <a:prstGeom prst="rect">
            <a:avLst>
              <a:gd name="adj" fmla="val 28571"/>
            </a:avLst>
          </a:prstGeom>
          <a:solidFill>
            <a:srgbClr val="F47A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8" name="Shape 200"/>
          <p:cNvSpPr/>
          <p:nvPr/>
        </p:nvSpPr>
        <p:spPr>
          <a:xfrm>
            <a:off x="9253728" y="7187184"/>
            <a:ext cx="411480" cy="256032"/>
          </a:xfrm>
          <a:prstGeom prst="rect">
            <a:avLst>
              <a:gd name="adj" fmla="val 28571"/>
            </a:avLst>
          </a:prstGeom>
          <a:solidFill>
            <a:srgbClr val="F47A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9" name="Shape 201"/>
          <p:cNvSpPr/>
          <p:nvPr/>
        </p:nvSpPr>
        <p:spPr>
          <a:xfrm>
            <a:off x="10021824" y="6665976"/>
            <a:ext cx="402336" cy="201168"/>
          </a:xfrm>
          <a:prstGeom prst="rightArrow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20" name="Shape 202"/>
          <p:cNvSpPr/>
          <p:nvPr/>
        </p:nvSpPr>
        <p:spPr>
          <a:xfrm>
            <a:off x="10625328" y="6876288"/>
            <a:ext cx="713232" cy="347472"/>
          </a:xfrm>
          <a:prstGeom prst="rect">
            <a:avLst>
              <a:gd name="adj" fmla="val 21053"/>
            </a:avLst>
          </a:prstGeom>
          <a:solidFill>
            <a:srgbClr val="FFE8A8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1" name="Shape 203"/>
          <p:cNvSpPr/>
          <p:nvPr/>
        </p:nvSpPr>
        <p:spPr>
          <a:xfrm>
            <a:off x="11292840" y="6419088"/>
            <a:ext cx="987552" cy="804672"/>
          </a:xfrm>
          <a:prstGeom prst="rect">
            <a:avLst>
              <a:gd name="adj" fmla="val 9091"/>
            </a:avLst>
          </a:prstGeom>
          <a:solidFill>
            <a:srgbClr val="5DADE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2" name="Shape 204"/>
          <p:cNvSpPr/>
          <p:nvPr/>
        </p:nvSpPr>
        <p:spPr>
          <a:xfrm>
            <a:off x="12600432" y="6986016"/>
            <a:ext cx="640080" cy="237744"/>
          </a:xfrm>
          <a:prstGeom prst="rect">
            <a:avLst>
              <a:gd name="adj" fmla="val 30769"/>
            </a:avLst>
          </a:prstGeom>
          <a:solidFill>
            <a:srgbClr val="F28E95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3" name="Shape 205"/>
          <p:cNvSpPr/>
          <p:nvPr/>
        </p:nvSpPr>
        <p:spPr>
          <a:xfrm>
            <a:off x="11338560" y="6693408"/>
            <a:ext cx="932688" cy="237744"/>
          </a:xfrm>
          <a:prstGeom prst="trapezoid">
            <a:avLst/>
          </a:prstGeom>
          <a:solidFill>
            <a:srgbClr val="79BDE8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4" name="Text 206"/>
          <p:cNvSpPr/>
          <p:nvPr/>
        </p:nvSpPr>
        <p:spPr>
          <a:xfrm>
            <a:off x="10826496" y="6903720"/>
            <a:ext cx="2560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225" name="Text 207"/>
          <p:cNvSpPr/>
          <p:nvPr/>
        </p:nvSpPr>
        <p:spPr>
          <a:xfrm>
            <a:off x="11768328" y="6812280"/>
            <a:ext cx="2560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226" name="Text 208"/>
          <p:cNvSpPr/>
          <p:nvPr/>
        </p:nvSpPr>
        <p:spPr>
          <a:xfrm>
            <a:off x="12874752" y="7013448"/>
            <a:ext cx="228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27" name="Text 209"/>
          <p:cNvSpPr/>
          <p:nvPr/>
        </p:nvSpPr>
        <p:spPr>
          <a:xfrm>
            <a:off x="10735056" y="6190488"/>
            <a:ext cx="56692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B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Cand. B</a:t>
            </a:r>
            <a:endParaRPr lang="en-US" sz="750" dirty="0"/>
          </a:p>
        </p:txBody>
      </p:sp>
      <p:sp>
        <p:nvSpPr>
          <p:cNvPr id="228" name="Text 210"/>
          <p:cNvSpPr/>
          <p:nvPr/>
        </p:nvSpPr>
        <p:spPr>
          <a:xfrm>
            <a:off x="11640312" y="5788152"/>
            <a:ext cx="56692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Cand. A</a:t>
            </a:r>
            <a:endParaRPr lang="en-US" sz="750" dirty="0"/>
          </a:p>
        </p:txBody>
      </p:sp>
      <p:sp>
        <p:nvSpPr>
          <p:cNvPr id="229" name="Text 211"/>
          <p:cNvSpPr/>
          <p:nvPr/>
        </p:nvSpPr>
        <p:spPr>
          <a:xfrm>
            <a:off x="12618720" y="6318504"/>
            <a:ext cx="56692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C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Cand. C</a:t>
            </a:r>
            <a:endParaRPr lang="en-US" sz="750" dirty="0"/>
          </a:p>
        </p:txBody>
      </p:sp>
      <p:sp>
        <p:nvSpPr>
          <p:cNvPr id="230" name="Shape 212"/>
          <p:cNvSpPr/>
          <p:nvPr/>
        </p:nvSpPr>
        <p:spPr>
          <a:xfrm>
            <a:off x="11612880" y="6035040"/>
            <a:ext cx="566928" cy="530352"/>
          </a:xfrm>
          <a:prstGeom prst="rect">
            <a:avLst>
              <a:gd name="adj" fmla="val 13793"/>
            </a:avLst>
          </a:prstGeom>
          <a:solidFill>
            <a:srgbClr val="FEFAEC"/>
          </a:solidFill>
          <a:ln w="12700">
            <a:solidFill>
              <a:srgbClr val="FEFAEC"/>
            </a:solidFill>
            <a:prstDash val="solid"/>
          </a:ln>
        </p:spPr>
      </p:sp>
      <p:sp>
        <p:nvSpPr>
          <p:cNvPr id="402" name="DIMER_ICON_TROPHY_left_handle_00"/>
          <p:cNvSpPr/>
          <p:nvPr/>
        </p:nvSpPr>
        <p:spPr>
          <a:xfrm>
            <a:off x="11635259" y="6101334"/>
            <a:ext cx="134272" cy="1694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DIMER_ICON_TROPHY_right_handle_01"/>
          <p:cNvSpPr/>
          <p:nvPr/>
        </p:nvSpPr>
        <p:spPr>
          <a:xfrm>
            <a:off x="12023157" y="6101334"/>
            <a:ext cx="134272" cy="1694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IMER_ICON_TROPHY_cup_02"/>
          <p:cNvSpPr/>
          <p:nvPr/>
        </p:nvSpPr>
        <p:spPr>
          <a:xfrm>
            <a:off x="11732233" y="6079236"/>
            <a:ext cx="328221" cy="250444"/>
          </a:xfrm>
          <a:custGeom>
            <a:avLst/>
            <a:gdLst/>
            <a:ahLst/>
            <a:cxnLst/>
            <a:rect l="l" t="t" r="r" b="b"/>
            <a:pathLst>
              <a:path w="44" h="34">
                <a:moveTo>
                  <a:pt x="0" y="0"/>
                </a:moveTo>
                <a:lnTo>
                  <a:pt x="44" y="0"/>
                </a:lnTo>
                <a:lnTo>
                  <a:pt x="41" y="20"/>
                </a:lnTo>
                <a:lnTo>
                  <a:pt x="36" y="29"/>
                </a:lnTo>
                <a:lnTo>
                  <a:pt x="28" y="34"/>
                </a:lnTo>
                <a:lnTo>
                  <a:pt x="16" y="34"/>
                </a:lnTo>
                <a:lnTo>
                  <a:pt x="7" y="29"/>
                </a:lnTo>
                <a:lnTo>
                  <a:pt x="3" y="20"/>
                </a:lnTo>
                <a:close/>
              </a:path>
            </a:pathLst>
          </a:custGeom>
          <a:solidFill>
            <a:srgbClr val="F5BF27"/>
          </a:solidFill>
          <a:ln w="1270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DIMER_ICON_TROPHY_rim_03"/>
          <p:cNvSpPr/>
          <p:nvPr/>
        </p:nvSpPr>
        <p:spPr>
          <a:xfrm>
            <a:off x="11724774" y="6064504"/>
            <a:ext cx="343141" cy="51562"/>
          </a:xfrm>
          <a:prstGeom prst="roundRect">
            <a:avLst/>
          </a:prstGeom>
          <a:solidFill>
            <a:srgbClr val="FFE47A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DIMER_ICON_TROPHY_stem_04"/>
          <p:cNvSpPr/>
          <p:nvPr/>
        </p:nvSpPr>
        <p:spPr>
          <a:xfrm>
            <a:off x="11859046" y="6322314"/>
            <a:ext cx="74596" cy="95758"/>
          </a:xfrm>
          <a:prstGeom prst="rect">
            <a:avLst/>
          </a:prstGeom>
          <a:solidFill>
            <a:srgbClr val="F5BF27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DIMER_ICON_TROPHY_foot_05"/>
          <p:cNvSpPr/>
          <p:nvPr/>
        </p:nvSpPr>
        <p:spPr>
          <a:xfrm>
            <a:off x="11776991" y="6410706"/>
            <a:ext cx="238707" cy="44196"/>
          </a:xfrm>
          <a:prstGeom prst="roundRect">
            <a:avLst/>
          </a:prstGeom>
          <a:solidFill>
            <a:srgbClr val="FFE47A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DIMER_ICON_TROPHY_base_06"/>
          <p:cNvSpPr/>
          <p:nvPr/>
        </p:nvSpPr>
        <p:spPr>
          <a:xfrm>
            <a:off x="11732233" y="6454902"/>
            <a:ext cx="328221" cy="66294"/>
          </a:xfrm>
          <a:prstGeom prst="roundRect">
            <a:avLst/>
          </a:prstGeom>
          <a:solidFill>
            <a:srgbClr val="F5BF27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IMER_ICON_TROPHY_star_07"/>
          <p:cNvSpPr/>
          <p:nvPr/>
        </p:nvSpPr>
        <p:spPr>
          <a:xfrm>
            <a:off x="11844127" y="6138164"/>
            <a:ext cx="104434" cy="103124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7" y="0"/>
                </a:moveTo>
                <a:lnTo>
                  <a:pt x="9" y="5"/>
                </a:lnTo>
                <a:lnTo>
                  <a:pt x="14" y="5"/>
                </a:lnTo>
                <a:lnTo>
                  <a:pt x="10" y="9"/>
                </a:lnTo>
                <a:lnTo>
                  <a:pt x="12" y="14"/>
                </a:lnTo>
                <a:lnTo>
                  <a:pt x="7" y="11"/>
                </a:lnTo>
                <a:lnTo>
                  <a:pt x="2" y="14"/>
                </a:lnTo>
                <a:lnTo>
                  <a:pt x="4" y="9"/>
                </a:lnTo>
                <a:lnTo>
                  <a:pt x="0" y="5"/>
                </a:lnTo>
                <a:lnTo>
                  <a:pt x="5" y="5"/>
                </a:lnTo>
                <a:close/>
              </a:path>
            </a:pathLst>
          </a:custGeom>
          <a:solidFill>
            <a:srgbClr val="C88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 213"/>
          <p:cNvSpPr/>
          <p:nvPr/>
        </p:nvSpPr>
        <p:spPr>
          <a:xfrm>
            <a:off x="384048" y="768096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A4C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PRM vs ORM  核心差异</a:t>
            </a:r>
            <a:endParaRPr lang="en-US" sz="1350" dirty="0"/>
          </a:p>
        </p:txBody>
      </p:sp>
      <p:sp>
        <p:nvSpPr>
          <p:cNvPr id="233" name="Shape 214"/>
          <p:cNvSpPr/>
          <p:nvPr/>
        </p:nvSpPr>
        <p:spPr>
          <a:xfrm>
            <a:off x="384048" y="7973568"/>
            <a:ext cx="2971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1430">
            <a:solidFill>
              <a:srgbClr val="A17CC6"/>
            </a:solidFill>
            <a:prstDash val="solid"/>
          </a:ln>
        </p:spPr>
      </p:sp>
      <p:sp>
        <p:nvSpPr>
          <p:cNvPr id="234" name="Shape 215"/>
          <p:cNvSpPr/>
          <p:nvPr/>
        </p:nvSpPr>
        <p:spPr>
          <a:xfrm>
            <a:off x="493776" y="8156448"/>
            <a:ext cx="438912" cy="402336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cxnSp>
        <p:nvCxnSpPr>
          <p:cNvPr id="408" name="DIMER_ICON_ROBOT_antenna_00"/>
          <p:cNvCxnSpPr/>
          <p:nvPr/>
        </p:nvCxnSpPr>
        <p:spPr>
          <a:xfrm>
            <a:off x="713232" y="8170817"/>
            <a:ext cx="0" cy="64661"/>
          </a:xfrm>
          <a:prstGeom prst="line">
            <a:avLst/>
          </a:prstGeom>
          <a:ln w="10160">
            <a:solidFill>
              <a:srgbClr val="26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DIMER_ICON_ROBOT_antenna_tip_01"/>
          <p:cNvSpPr/>
          <p:nvPr/>
        </p:nvSpPr>
        <p:spPr>
          <a:xfrm>
            <a:off x="690530" y="8156448"/>
            <a:ext cx="45405" cy="43107"/>
          </a:xfrm>
          <a:prstGeom prst="ellipse">
            <a:avLst/>
          </a:prstGeom>
          <a:solidFill>
            <a:srgbClr val="7FB6DB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DIMER_ICON_ROBOT_left_ear_02"/>
          <p:cNvSpPr/>
          <p:nvPr/>
        </p:nvSpPr>
        <p:spPr>
          <a:xfrm>
            <a:off x="516478" y="8300139"/>
            <a:ext cx="68107" cy="129322"/>
          </a:xfrm>
          <a:prstGeom prst="roundRect">
            <a:avLst/>
          </a:prstGeom>
          <a:solidFill>
            <a:srgbClr val="7FB6DB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DIMER_ICON_ROBOT_right_ear_03"/>
          <p:cNvSpPr/>
          <p:nvPr/>
        </p:nvSpPr>
        <p:spPr>
          <a:xfrm>
            <a:off x="841879" y="8300139"/>
            <a:ext cx="68107" cy="129322"/>
          </a:xfrm>
          <a:prstGeom prst="roundRect">
            <a:avLst/>
          </a:prstGeom>
          <a:solidFill>
            <a:srgbClr val="7FB6DB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DIMER_ICON_ROBOT_head_04"/>
          <p:cNvSpPr/>
          <p:nvPr/>
        </p:nvSpPr>
        <p:spPr>
          <a:xfrm>
            <a:off x="561883" y="8228294"/>
            <a:ext cx="302698" cy="2442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DIMER_ICON_ROBOT_forehead_05"/>
          <p:cNvSpPr/>
          <p:nvPr/>
        </p:nvSpPr>
        <p:spPr>
          <a:xfrm>
            <a:off x="607288" y="8249847"/>
            <a:ext cx="211889" cy="57477"/>
          </a:xfrm>
          <a:prstGeom prst="roundRect">
            <a:avLst/>
          </a:prstGeom>
          <a:solidFill>
            <a:srgbClr val="D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DIMER_ICON_ROBOT_visor_06"/>
          <p:cNvSpPr/>
          <p:nvPr/>
        </p:nvSpPr>
        <p:spPr>
          <a:xfrm>
            <a:off x="592153" y="8307324"/>
            <a:ext cx="242158" cy="129322"/>
          </a:xfrm>
          <a:prstGeom prst="roundRect">
            <a:avLst/>
          </a:prstGeom>
          <a:solidFill>
            <a:srgbClr val="A5CEE8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DIMER_ICON_ROBOT_left_eye_07"/>
          <p:cNvSpPr/>
          <p:nvPr/>
        </p:nvSpPr>
        <p:spPr>
          <a:xfrm>
            <a:off x="645125" y="8350431"/>
            <a:ext cx="37837" cy="35923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DIMER_ICON_ROBOT_right_eye_08"/>
          <p:cNvSpPr/>
          <p:nvPr/>
        </p:nvSpPr>
        <p:spPr>
          <a:xfrm>
            <a:off x="743502" y="8350431"/>
            <a:ext cx="37837" cy="35923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DIMER_ICON_ROBOT_left_glint_09"/>
          <p:cNvSpPr/>
          <p:nvPr/>
        </p:nvSpPr>
        <p:spPr>
          <a:xfrm>
            <a:off x="652692" y="8350431"/>
            <a:ext cx="15135" cy="1436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DIMER_ICON_ROBOT_right_glint_10"/>
          <p:cNvSpPr/>
          <p:nvPr/>
        </p:nvSpPr>
        <p:spPr>
          <a:xfrm>
            <a:off x="751069" y="8350431"/>
            <a:ext cx="15135" cy="1436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DIMER_ICON_ROBOT_neck_11"/>
          <p:cNvSpPr/>
          <p:nvPr/>
        </p:nvSpPr>
        <p:spPr>
          <a:xfrm>
            <a:off x="675395" y="8472569"/>
            <a:ext cx="75674" cy="28738"/>
          </a:xfrm>
          <a:prstGeom prst="rect">
            <a:avLst/>
          </a:pr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DIMER_ICON_ROBOT_base_12"/>
          <p:cNvSpPr/>
          <p:nvPr/>
        </p:nvSpPr>
        <p:spPr>
          <a:xfrm>
            <a:off x="622423" y="8501307"/>
            <a:ext cx="181619" cy="43107"/>
          </a:xfrm>
          <a:prstGeom prst="roundRect">
            <a:avLst/>
          </a:pr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 216"/>
          <p:cNvSpPr/>
          <p:nvPr/>
        </p:nvSpPr>
        <p:spPr>
          <a:xfrm>
            <a:off x="1152144" y="8101584"/>
            <a:ext cx="11430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ORM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102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(outcome-only)</a:t>
            </a:r>
            <a:endParaRPr lang="en-US" sz="920" dirty="0"/>
          </a:p>
        </p:txBody>
      </p:sp>
      <p:sp>
        <p:nvSpPr>
          <p:cNvPr id="237" name="Shape 217"/>
          <p:cNvSpPr/>
          <p:nvPr/>
        </p:nvSpPr>
        <p:spPr>
          <a:xfrm>
            <a:off x="2322576" y="8348472"/>
            <a:ext cx="292608" cy="201168"/>
          </a:xfrm>
          <a:prstGeom prst="rightArrow">
            <a:avLst/>
          </a:prstGeom>
          <a:solidFill>
            <a:srgbClr val="102A63"/>
          </a:solidFill>
          <a:ln w="12700">
            <a:solidFill>
              <a:srgbClr val="102A63">
                <a:alpha val="0"/>
              </a:srgbClr>
            </a:solidFill>
            <a:prstDash val="solid"/>
          </a:ln>
        </p:spPr>
      </p:sp>
      <p:sp>
        <p:nvSpPr>
          <p:cNvPr id="238" name="Shape 218"/>
          <p:cNvSpPr/>
          <p:nvPr/>
        </p:nvSpPr>
        <p:spPr>
          <a:xfrm>
            <a:off x="2651760" y="8211312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FFF1BA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39" name="Text 219"/>
          <p:cNvSpPr/>
          <p:nvPr/>
        </p:nvSpPr>
        <p:spPr>
          <a:xfrm>
            <a:off x="2734056" y="8275320"/>
            <a:ext cx="3291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000" dirty="0"/>
          </a:p>
        </p:txBody>
      </p:sp>
      <p:sp>
        <p:nvSpPr>
          <p:cNvPr id="240" name="Shape 220"/>
          <p:cNvSpPr/>
          <p:nvPr/>
        </p:nvSpPr>
        <p:spPr>
          <a:xfrm>
            <a:off x="1152144" y="8668512"/>
            <a:ext cx="126187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0160">
            <a:solidFill>
              <a:srgbClr val="A17CC6"/>
            </a:solidFill>
            <a:prstDash val="solid"/>
          </a:ln>
        </p:spPr>
      </p:sp>
      <p:sp>
        <p:nvSpPr>
          <p:cNvPr id="241" name="Text 221"/>
          <p:cNvSpPr/>
          <p:nvPr/>
        </p:nvSpPr>
        <p:spPr>
          <a:xfrm>
            <a:off x="1298448" y="8705088"/>
            <a:ext cx="960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只看最终答案</a:t>
            </a:r>
            <a:endParaRPr lang="en-US" sz="840" dirty="0"/>
          </a:p>
        </p:txBody>
      </p:sp>
      <p:sp>
        <p:nvSpPr>
          <p:cNvPr id="242" name="Shape 222"/>
          <p:cNvSpPr/>
          <p:nvPr/>
        </p:nvSpPr>
        <p:spPr>
          <a:xfrm>
            <a:off x="3429000" y="8028432"/>
            <a:ext cx="640080" cy="640080"/>
          </a:xfrm>
          <a:prstGeom prst="ellipse">
            <a:avLst/>
          </a:prstGeom>
          <a:solidFill>
            <a:srgbClr val="B899D6"/>
          </a:solidFill>
          <a:ln w="12700">
            <a:solidFill>
              <a:srgbClr val="B899D6"/>
            </a:solidFill>
            <a:prstDash val="solid"/>
          </a:ln>
        </p:spPr>
      </p:sp>
      <p:sp>
        <p:nvSpPr>
          <p:cNvPr id="243" name="Text 223"/>
          <p:cNvSpPr/>
          <p:nvPr/>
        </p:nvSpPr>
        <p:spPr>
          <a:xfrm>
            <a:off x="3547872" y="8174736"/>
            <a:ext cx="411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</a:t>
            </a:r>
            <a:endParaRPr lang="en-US" sz="1500" dirty="0"/>
          </a:p>
        </p:txBody>
      </p:sp>
      <p:sp>
        <p:nvSpPr>
          <p:cNvPr id="244" name="Shape 224"/>
          <p:cNvSpPr/>
          <p:nvPr/>
        </p:nvSpPr>
        <p:spPr>
          <a:xfrm>
            <a:off x="3913632" y="7754112"/>
            <a:ext cx="34290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1430">
            <a:solidFill>
              <a:srgbClr val="A17CC6"/>
            </a:solidFill>
            <a:prstDash val="solid"/>
          </a:ln>
        </p:spPr>
      </p:sp>
      <p:sp>
        <p:nvSpPr>
          <p:cNvPr id="245" name="Text 225"/>
          <p:cNvSpPr/>
          <p:nvPr/>
        </p:nvSpPr>
        <p:spPr>
          <a:xfrm>
            <a:off x="4462272" y="7900416"/>
            <a:ext cx="21396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02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PRM  (process-aware)</a:t>
            </a:r>
            <a:endParaRPr lang="en-US" sz="980" dirty="0"/>
          </a:p>
        </p:txBody>
      </p:sp>
      <p:sp>
        <p:nvSpPr>
          <p:cNvPr id="246" name="Shape 226"/>
          <p:cNvSpPr/>
          <p:nvPr/>
        </p:nvSpPr>
        <p:spPr>
          <a:xfrm>
            <a:off x="4187952" y="8156448"/>
            <a:ext cx="438912" cy="402336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cxnSp>
        <p:nvCxnSpPr>
          <p:cNvPr id="421" name="DIMER_ICON_ROBOT_antenna_00"/>
          <p:cNvCxnSpPr/>
          <p:nvPr/>
        </p:nvCxnSpPr>
        <p:spPr>
          <a:xfrm>
            <a:off x="4407408" y="8170817"/>
            <a:ext cx="0" cy="64661"/>
          </a:xfrm>
          <a:prstGeom prst="line">
            <a:avLst/>
          </a:prstGeom>
          <a:ln w="10160">
            <a:solidFill>
              <a:srgbClr val="263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DIMER_ICON_ROBOT_antenna_tip_01"/>
          <p:cNvSpPr/>
          <p:nvPr/>
        </p:nvSpPr>
        <p:spPr>
          <a:xfrm>
            <a:off x="4384706" y="8156448"/>
            <a:ext cx="45405" cy="43107"/>
          </a:xfrm>
          <a:prstGeom prst="ellipse">
            <a:avLst/>
          </a:prstGeom>
          <a:solidFill>
            <a:srgbClr val="7FB6DB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DIMER_ICON_ROBOT_left_ear_02"/>
          <p:cNvSpPr/>
          <p:nvPr/>
        </p:nvSpPr>
        <p:spPr>
          <a:xfrm>
            <a:off x="4210654" y="8300139"/>
            <a:ext cx="68107" cy="129322"/>
          </a:xfrm>
          <a:prstGeom prst="roundRect">
            <a:avLst/>
          </a:prstGeom>
          <a:solidFill>
            <a:srgbClr val="7FB6DB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DIMER_ICON_ROBOT_right_ear_03"/>
          <p:cNvSpPr/>
          <p:nvPr/>
        </p:nvSpPr>
        <p:spPr>
          <a:xfrm>
            <a:off x="4536055" y="8300139"/>
            <a:ext cx="68107" cy="129322"/>
          </a:xfrm>
          <a:prstGeom prst="roundRect">
            <a:avLst/>
          </a:prstGeom>
          <a:solidFill>
            <a:srgbClr val="7FB6DB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DIMER_ICON_ROBOT_head_04"/>
          <p:cNvSpPr/>
          <p:nvPr/>
        </p:nvSpPr>
        <p:spPr>
          <a:xfrm>
            <a:off x="4256059" y="8228294"/>
            <a:ext cx="302698" cy="2442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DIMER_ICON_ROBOT_forehead_05"/>
          <p:cNvSpPr/>
          <p:nvPr/>
        </p:nvSpPr>
        <p:spPr>
          <a:xfrm>
            <a:off x="4301464" y="8249847"/>
            <a:ext cx="211889" cy="57477"/>
          </a:xfrm>
          <a:prstGeom prst="roundRect">
            <a:avLst/>
          </a:prstGeom>
          <a:solidFill>
            <a:srgbClr val="D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DIMER_ICON_ROBOT_visor_06"/>
          <p:cNvSpPr/>
          <p:nvPr/>
        </p:nvSpPr>
        <p:spPr>
          <a:xfrm>
            <a:off x="4286329" y="8307324"/>
            <a:ext cx="242158" cy="129322"/>
          </a:xfrm>
          <a:prstGeom prst="roundRect">
            <a:avLst/>
          </a:prstGeom>
          <a:solidFill>
            <a:srgbClr val="A5CEE8"/>
          </a:solidFill>
          <a:ln w="1016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DIMER_ICON_ROBOT_left_eye_07"/>
          <p:cNvSpPr/>
          <p:nvPr/>
        </p:nvSpPr>
        <p:spPr>
          <a:xfrm>
            <a:off x="4339301" y="8350431"/>
            <a:ext cx="37837" cy="35923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DIMER_ICON_ROBOT_right_eye_08"/>
          <p:cNvSpPr/>
          <p:nvPr/>
        </p:nvSpPr>
        <p:spPr>
          <a:xfrm>
            <a:off x="4437678" y="8350431"/>
            <a:ext cx="37837" cy="35923"/>
          </a:xfrm>
          <a:prstGeom prst="ellipse">
            <a:avLst/>
          </a:prstGeom>
          <a:solidFill>
            <a:srgbClr val="26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DIMER_ICON_ROBOT_left_glint_09"/>
          <p:cNvSpPr/>
          <p:nvPr/>
        </p:nvSpPr>
        <p:spPr>
          <a:xfrm>
            <a:off x="4346868" y="8350431"/>
            <a:ext cx="15135" cy="1436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DIMER_ICON_ROBOT_right_glint_10"/>
          <p:cNvSpPr/>
          <p:nvPr/>
        </p:nvSpPr>
        <p:spPr>
          <a:xfrm>
            <a:off x="4445245" y="8350431"/>
            <a:ext cx="15135" cy="1436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DIMER_ICON_ROBOT_neck_11"/>
          <p:cNvSpPr/>
          <p:nvPr/>
        </p:nvSpPr>
        <p:spPr>
          <a:xfrm>
            <a:off x="4369571" y="8472569"/>
            <a:ext cx="75674" cy="28738"/>
          </a:xfrm>
          <a:prstGeom prst="rect">
            <a:avLst/>
          </a:pr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DIMER_ICON_ROBOT_base_12"/>
          <p:cNvSpPr/>
          <p:nvPr/>
        </p:nvSpPr>
        <p:spPr>
          <a:xfrm>
            <a:off x="4316599" y="8501307"/>
            <a:ext cx="181619" cy="43107"/>
          </a:xfrm>
          <a:prstGeom prst="roundRect">
            <a:avLst/>
          </a:prstGeom>
          <a:solidFill>
            <a:srgbClr val="D8EAF6"/>
          </a:solidFill>
          <a:ln w="889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hape 227"/>
          <p:cNvSpPr/>
          <p:nvPr/>
        </p:nvSpPr>
        <p:spPr>
          <a:xfrm>
            <a:off x="4736592" y="8348472"/>
            <a:ext cx="256032" cy="201168"/>
          </a:xfrm>
          <a:prstGeom prst="rightArrow">
            <a:avLst/>
          </a:prstGeom>
          <a:solidFill>
            <a:srgbClr val="102A63"/>
          </a:solidFill>
          <a:ln w="12700">
            <a:solidFill>
              <a:srgbClr val="102A63">
                <a:alpha val="0"/>
              </a:srgbClr>
            </a:solidFill>
            <a:prstDash val="solid"/>
          </a:ln>
        </p:spPr>
      </p:sp>
      <p:sp>
        <p:nvSpPr>
          <p:cNvPr id="249" name="Shape 228"/>
          <p:cNvSpPr/>
          <p:nvPr/>
        </p:nvSpPr>
        <p:spPr>
          <a:xfrm>
            <a:off x="5001768" y="8211312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DDF6DF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250" name="Text 229"/>
          <p:cNvSpPr/>
          <p:nvPr/>
        </p:nvSpPr>
        <p:spPr>
          <a:xfrm>
            <a:off x="5074920" y="8247888"/>
            <a:ext cx="1645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000" dirty="0"/>
          </a:p>
        </p:txBody>
      </p:sp>
      <p:sp>
        <p:nvSpPr>
          <p:cNvPr id="251" name="Shape 230"/>
          <p:cNvSpPr/>
          <p:nvPr/>
        </p:nvSpPr>
        <p:spPr>
          <a:xfrm>
            <a:off x="5550408" y="8211312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DDF6DF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252" name="Text 231"/>
          <p:cNvSpPr/>
          <p:nvPr/>
        </p:nvSpPr>
        <p:spPr>
          <a:xfrm>
            <a:off x="5623560" y="8247888"/>
            <a:ext cx="1645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000" dirty="0"/>
          </a:p>
        </p:txBody>
      </p:sp>
      <p:sp>
        <p:nvSpPr>
          <p:cNvPr id="253" name="Shape 232"/>
          <p:cNvSpPr/>
          <p:nvPr/>
        </p:nvSpPr>
        <p:spPr>
          <a:xfrm>
            <a:off x="6099048" y="8211312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FFE1DF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254" name="Text 233"/>
          <p:cNvSpPr/>
          <p:nvPr/>
        </p:nvSpPr>
        <p:spPr>
          <a:xfrm>
            <a:off x="6172200" y="8247888"/>
            <a:ext cx="1645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</a:t>
            </a:r>
            <a:endParaRPr lang="en-US" sz="1000" dirty="0"/>
          </a:p>
        </p:txBody>
      </p:sp>
      <p:sp>
        <p:nvSpPr>
          <p:cNvPr id="255" name="Shape 234"/>
          <p:cNvSpPr/>
          <p:nvPr/>
        </p:nvSpPr>
        <p:spPr>
          <a:xfrm>
            <a:off x="6647688" y="8211312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DDF6DF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256" name="Text 235"/>
          <p:cNvSpPr/>
          <p:nvPr/>
        </p:nvSpPr>
        <p:spPr>
          <a:xfrm>
            <a:off x="6720840" y="8247888"/>
            <a:ext cx="1645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000" dirty="0"/>
          </a:p>
        </p:txBody>
      </p:sp>
      <p:sp>
        <p:nvSpPr>
          <p:cNvPr id="257" name="Text 236"/>
          <p:cNvSpPr/>
          <p:nvPr/>
        </p:nvSpPr>
        <p:spPr>
          <a:xfrm>
            <a:off x="6035040" y="8275320"/>
            <a:ext cx="22860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...</a:t>
            </a:r>
            <a:endParaRPr lang="en-US" sz="1000" dirty="0"/>
          </a:p>
        </p:txBody>
      </p:sp>
      <p:sp>
        <p:nvSpPr>
          <p:cNvPr id="258" name="Shape 237"/>
          <p:cNvSpPr/>
          <p:nvPr/>
        </p:nvSpPr>
        <p:spPr>
          <a:xfrm>
            <a:off x="4736592" y="86685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0160">
            <a:solidFill>
              <a:srgbClr val="A17CC6"/>
            </a:solidFill>
            <a:prstDash val="solid"/>
          </a:ln>
        </p:spPr>
      </p:sp>
      <p:sp>
        <p:nvSpPr>
          <p:cNvPr id="259" name="Text 238"/>
          <p:cNvSpPr/>
          <p:nvPr/>
        </p:nvSpPr>
        <p:spPr>
          <a:xfrm>
            <a:off x="4992624" y="8705088"/>
            <a:ext cx="1463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看见每一步错误</a:t>
            </a:r>
            <a:endParaRPr lang="en-US" sz="840" dirty="0"/>
          </a:p>
        </p:txBody>
      </p:sp>
      <p:sp>
        <p:nvSpPr>
          <p:cNvPr id="260" name="Shape 239"/>
          <p:cNvSpPr/>
          <p:nvPr/>
        </p:nvSpPr>
        <p:spPr>
          <a:xfrm>
            <a:off x="7699248" y="7699248"/>
            <a:ext cx="914" cy="1133856"/>
          </a:xfrm>
          <a:prstGeom prst="line">
            <a:avLst/>
          </a:prstGeom>
          <a:noFill/>
          <a:ln w="10160">
            <a:solidFill>
              <a:srgbClr val="6A4C93"/>
            </a:solidFill>
            <a:prstDash val="solid"/>
          </a:ln>
        </p:spPr>
      </p:sp>
      <p:sp>
        <p:nvSpPr>
          <p:cNvPr id="261" name="Shape 240"/>
          <p:cNvSpPr/>
          <p:nvPr/>
        </p:nvSpPr>
        <p:spPr>
          <a:xfrm>
            <a:off x="8001000" y="7772400"/>
            <a:ext cx="1463040" cy="932688"/>
          </a:xfrm>
          <a:prstGeom prst="roundRect">
            <a:avLst>
              <a:gd name="adj" fmla="val 7843"/>
            </a:avLst>
          </a:prstGeom>
          <a:solidFill>
            <a:srgbClr val="F3F8FF"/>
          </a:solidFill>
          <a:ln w="11430">
            <a:solidFill>
              <a:srgbClr val="3A86C8"/>
            </a:solidFill>
            <a:prstDash val="solid"/>
          </a:ln>
        </p:spPr>
      </p:sp>
      <p:sp>
        <p:nvSpPr>
          <p:cNvPr id="262" name="Shape 241"/>
          <p:cNvSpPr/>
          <p:nvPr/>
        </p:nvSpPr>
        <p:spPr>
          <a:xfrm>
            <a:off x="8193024" y="7936992"/>
            <a:ext cx="384048" cy="384048"/>
          </a:xfrm>
          <a:prstGeom prst="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DIMER_ICON_SHIELD_shield_00"/>
          <p:cNvSpPr/>
          <p:nvPr/>
        </p:nvSpPr>
        <p:spPr>
          <a:xfrm>
            <a:off x="8238744" y="7953690"/>
            <a:ext cx="292608" cy="350653"/>
          </a:xfrm>
          <a:custGeom>
            <a:avLst/>
            <a:gdLst/>
            <a:ahLst/>
            <a:cxnLst/>
            <a:rect l="l" t="t" r="r" b="b"/>
            <a:pathLst>
              <a:path w="32" h="42">
                <a:moveTo>
                  <a:pt x="16" y="0"/>
                </a:moveTo>
                <a:lnTo>
                  <a:pt x="32" y="6"/>
                </a:lnTo>
                <a:lnTo>
                  <a:pt x="31" y="25"/>
                </a:lnTo>
                <a:lnTo>
                  <a:pt x="26" y="35"/>
                </a:lnTo>
                <a:lnTo>
                  <a:pt x="16" y="42"/>
                </a:lnTo>
                <a:lnTo>
                  <a:pt x="6" y="35"/>
                </a:lnTo>
                <a:lnTo>
                  <a:pt x="1" y="25"/>
                </a:lnTo>
                <a:lnTo>
                  <a:pt x="0" y="6"/>
                </a:lnTo>
                <a:close/>
              </a:path>
            </a:pathLst>
          </a:custGeom>
          <a:solidFill>
            <a:srgbClr val="7FB6DB"/>
          </a:solidFill>
          <a:ln w="1270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DIMER_ICON_SHIELD_check_01"/>
          <p:cNvSpPr/>
          <p:nvPr/>
        </p:nvSpPr>
        <p:spPr>
          <a:xfrm>
            <a:off x="8275320" y="8062225"/>
            <a:ext cx="210312" cy="141931"/>
          </a:xfrm>
          <a:custGeom>
            <a:avLst/>
            <a:gdLst/>
            <a:ahLst/>
            <a:cxnLst/>
            <a:rect l="l" t="t" r="r" b="b"/>
            <a:pathLst>
              <a:path w="23" h="17">
                <a:moveTo>
                  <a:pt x="3" y="7"/>
                </a:moveTo>
                <a:lnTo>
                  <a:pt x="8" y="12"/>
                </a:lnTo>
                <a:lnTo>
                  <a:pt x="20" y="0"/>
                </a:lnTo>
                <a:lnTo>
                  <a:pt x="23" y="3"/>
                </a:lnTo>
                <a:lnTo>
                  <a:pt x="8" y="17"/>
                </a:lnTo>
                <a:lnTo>
                  <a:pt x="0" y="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4" name="DIMER_ICON_SHIELD_highlight_02"/>
          <p:cNvCxnSpPr/>
          <p:nvPr/>
        </p:nvCxnSpPr>
        <p:spPr>
          <a:xfrm flipV="1">
            <a:off x="8284464" y="7995434"/>
            <a:ext cx="73152" cy="33396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 242"/>
          <p:cNvSpPr/>
          <p:nvPr/>
        </p:nvSpPr>
        <p:spPr>
          <a:xfrm>
            <a:off x="8705088" y="7955280"/>
            <a:ext cx="5303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更强</a:t>
            </a:r>
            <a:endParaRPr lang="en-US" sz="820" dirty="0"/>
          </a:p>
          <a:p>
            <a:pPr algn="l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A-Verify</a:t>
            </a:r>
            <a:endParaRPr lang="en-US" sz="820" dirty="0"/>
          </a:p>
        </p:txBody>
      </p:sp>
      <p:sp>
        <p:nvSpPr>
          <p:cNvPr id="265" name="Text 243"/>
          <p:cNvSpPr/>
          <p:nvPr/>
        </p:nvSpPr>
        <p:spPr>
          <a:xfrm>
            <a:off x="8458200" y="8412480"/>
            <a:ext cx="4754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98.8</a:t>
            </a:r>
            <a:endParaRPr lang="en-US" sz="1400" dirty="0"/>
          </a:p>
        </p:txBody>
      </p:sp>
      <p:sp>
        <p:nvSpPr>
          <p:cNvPr id="266" name="Text 244"/>
          <p:cNvSpPr/>
          <p:nvPr/>
        </p:nvSpPr>
        <p:spPr>
          <a:xfrm>
            <a:off x="9079992" y="8302752"/>
            <a:ext cx="2560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2000" dirty="0"/>
          </a:p>
        </p:txBody>
      </p:sp>
      <p:sp>
        <p:nvSpPr>
          <p:cNvPr id="267" name="Shape 245"/>
          <p:cNvSpPr/>
          <p:nvPr/>
        </p:nvSpPr>
        <p:spPr>
          <a:xfrm>
            <a:off x="9720072" y="7772400"/>
            <a:ext cx="1481328" cy="932688"/>
          </a:xfrm>
          <a:prstGeom prst="roundRect">
            <a:avLst>
              <a:gd name="adj" fmla="val 7843"/>
            </a:avLst>
          </a:prstGeom>
          <a:solidFill>
            <a:srgbClr val="F4FFF4"/>
          </a:solidFill>
          <a:ln w="11430">
            <a:solidFill>
              <a:srgbClr val="68AA70"/>
            </a:solidFill>
            <a:prstDash val="solid"/>
          </a:ln>
        </p:spPr>
      </p:sp>
      <p:sp>
        <p:nvSpPr>
          <p:cNvPr id="268" name="Shape 246"/>
          <p:cNvSpPr/>
          <p:nvPr/>
        </p:nvSpPr>
        <p:spPr>
          <a:xfrm>
            <a:off x="9893808" y="7918704"/>
            <a:ext cx="384048" cy="384048"/>
          </a:xfrm>
          <a:prstGeom prst="rect">
            <a:avLst>
              <a:gd name="adj" fmla="val 19048"/>
            </a:avLst>
          </a:prstGeom>
          <a:solidFill>
            <a:srgbClr val="F4FFF4"/>
          </a:solidFill>
          <a:ln w="12700">
            <a:solidFill>
              <a:srgbClr val="F4FFF4"/>
            </a:solidFill>
            <a:prstDash val="solid"/>
          </a:ln>
        </p:spPr>
      </p:sp>
      <p:pic>
        <p:nvPicPr>
          <p:cNvPr id="269" name="Image 20" descr="C:\Users\dididimer\Documents\dimer-ppt\fresh_prm_clinic\assets\bottom_thumb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93808" y="7918704"/>
            <a:ext cx="384048" cy="384048"/>
          </a:xfrm>
          <a:prstGeom prst="rect">
            <a:avLst/>
          </a:prstGeom>
        </p:spPr>
      </p:pic>
      <p:sp>
        <p:nvSpPr>
          <p:cNvPr id="270" name="Text 247"/>
          <p:cNvSpPr/>
          <p:nvPr/>
        </p:nvSpPr>
        <p:spPr>
          <a:xfrm>
            <a:off x="10369296" y="7955280"/>
            <a:ext cx="6035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</a:t>
            </a:r>
            <a:endParaRPr lang="en-US" sz="820" dirty="0"/>
          </a:p>
          <a:p>
            <a:pPr algn="l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A-Prefer</a:t>
            </a:r>
            <a:endParaRPr lang="en-US" sz="820" dirty="0"/>
          </a:p>
        </p:txBody>
      </p:sp>
      <p:sp>
        <p:nvSpPr>
          <p:cNvPr id="271" name="Text 248"/>
          <p:cNvSpPr/>
          <p:nvPr/>
        </p:nvSpPr>
        <p:spPr>
          <a:xfrm>
            <a:off x="10204704" y="8412480"/>
            <a:ext cx="4754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56.2</a:t>
            </a:r>
            <a:endParaRPr lang="en-US" sz="1400" dirty="0"/>
          </a:p>
        </p:txBody>
      </p:sp>
      <p:sp>
        <p:nvSpPr>
          <p:cNvPr id="272" name="Text 249"/>
          <p:cNvSpPr/>
          <p:nvPr/>
        </p:nvSpPr>
        <p:spPr>
          <a:xfrm>
            <a:off x="10808208" y="8302752"/>
            <a:ext cx="2560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2000" dirty="0"/>
          </a:p>
        </p:txBody>
      </p:sp>
      <p:sp>
        <p:nvSpPr>
          <p:cNvPr id="273" name="Shape 250"/>
          <p:cNvSpPr/>
          <p:nvPr/>
        </p:nvSpPr>
        <p:spPr>
          <a:xfrm>
            <a:off x="11466576" y="7772400"/>
            <a:ext cx="1755648" cy="932688"/>
          </a:xfrm>
          <a:prstGeom prst="roundRect">
            <a:avLst>
              <a:gd name="adj" fmla="val 7843"/>
            </a:avLst>
          </a:prstGeom>
          <a:solidFill>
            <a:srgbClr val="FFF7F7"/>
          </a:solidFill>
          <a:ln w="11430">
            <a:solidFill>
              <a:srgbClr val="F28E95"/>
            </a:solidFill>
            <a:prstDash val="solid"/>
          </a:ln>
        </p:spPr>
      </p:sp>
      <p:sp>
        <p:nvSpPr>
          <p:cNvPr id="274" name="Shape 251"/>
          <p:cNvSpPr/>
          <p:nvPr/>
        </p:nvSpPr>
        <p:spPr>
          <a:xfrm>
            <a:off x="11686032" y="7918704"/>
            <a:ext cx="384048" cy="384048"/>
          </a:xfrm>
          <a:prstGeom prst="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5" name="DIMER_ICON_HEART_heart_00"/>
          <p:cNvSpPr/>
          <p:nvPr/>
        </p:nvSpPr>
        <p:spPr>
          <a:xfrm>
            <a:off x="11718036" y="7977146"/>
            <a:ext cx="296037" cy="292210"/>
          </a:xfrm>
          <a:prstGeom prst="heart">
            <a:avLst/>
          </a:prstGeom>
          <a:solidFill>
            <a:srgbClr val="E96F72"/>
          </a:solidFill>
          <a:ln w="11430">
            <a:solidFill>
              <a:srgbClr val="26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DIMER_ICON_HEART_cross_h_01"/>
          <p:cNvSpPr/>
          <p:nvPr/>
        </p:nvSpPr>
        <p:spPr>
          <a:xfrm>
            <a:off x="11782044" y="8085681"/>
            <a:ext cx="168021" cy="41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DIMER_ICON_HEART_cross_v_02"/>
          <p:cNvSpPr/>
          <p:nvPr/>
        </p:nvSpPr>
        <p:spPr>
          <a:xfrm>
            <a:off x="11846052" y="8018890"/>
            <a:ext cx="40005" cy="1753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 252"/>
          <p:cNvSpPr/>
          <p:nvPr/>
        </p:nvSpPr>
        <p:spPr>
          <a:xfrm>
            <a:off x="12216384" y="7955280"/>
            <a:ext cx="822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临床偏好选择</a:t>
            </a:r>
            <a:endParaRPr lang="en-US" sz="840" dirty="0"/>
          </a:p>
        </p:txBody>
      </p:sp>
      <p:sp>
        <p:nvSpPr>
          <p:cNvPr id="277" name="Shape 253"/>
          <p:cNvSpPr/>
          <p:nvPr/>
        </p:nvSpPr>
        <p:spPr>
          <a:xfrm>
            <a:off x="11978640" y="8302752"/>
            <a:ext cx="841248" cy="438912"/>
          </a:xfrm>
          <a:prstGeom prst="rect">
            <a:avLst>
              <a:gd name="adj" fmla="val 16667"/>
            </a:avLst>
          </a:prstGeom>
          <a:solidFill>
            <a:srgbClr val="FFF7F7"/>
          </a:solidFill>
          <a:ln w="12700">
            <a:solidFill>
              <a:srgbClr val="FFF7F7"/>
            </a:solidFill>
            <a:prstDash val="solid"/>
          </a:ln>
        </p:spPr>
      </p:sp>
      <p:pic>
        <p:nvPicPr>
          <p:cNvPr id="278" name="Image 22" descr="C:\Users\dididimer\Documents\dimer-ppt\fresh_prm_clinic\assets\bottom_doctors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978640" y="8302752"/>
            <a:ext cx="841248" cy="438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PRM-Clinic Step-level Verification</dc:title>
  <dc:subject>Fresh editable reconstruction from PNG</dc:subject>
  <dc:creator>Codex</dc:creator>
  <cp:lastModifiedBy>Codex</cp:lastModifiedBy>
  <cp:revision>1</cp:revision>
  <dcterms:created xsi:type="dcterms:W3CDTF">2026-06-10T07:25:21Z</dcterms:created>
  <dcterms:modified xsi:type="dcterms:W3CDTF">2026-06-10T07:25:21Z</dcterms:modified>
</cp:coreProperties>
</file>